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12.jpg" ContentType="image/jpg"/>
  <Override PartName="/ppt/media/image15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  <p:sldMasterId id="2147493479" r:id="rId5"/>
    <p:sldMasterId id="2147493467" r:id="rId6"/>
  </p:sldMasterIdLst>
  <p:handoutMasterIdLst>
    <p:handoutMasterId r:id="rId29"/>
  </p:handoutMasterIdLst>
  <p:sldIdLst>
    <p:sldId id="259" r:id="rId7"/>
    <p:sldId id="260" r:id="rId8"/>
    <p:sldId id="263" r:id="rId9"/>
    <p:sldId id="264" r:id="rId10"/>
    <p:sldId id="265" r:id="rId11"/>
    <p:sldId id="266" r:id="rId12"/>
    <p:sldId id="296" r:id="rId13"/>
    <p:sldId id="295" r:id="rId14"/>
    <p:sldId id="279" r:id="rId15"/>
    <p:sldId id="280" r:id="rId16"/>
    <p:sldId id="267" r:id="rId17"/>
    <p:sldId id="269" r:id="rId18"/>
    <p:sldId id="270" r:id="rId19"/>
    <p:sldId id="271" r:id="rId20"/>
    <p:sldId id="272" r:id="rId21"/>
    <p:sldId id="273" r:id="rId22"/>
    <p:sldId id="275" r:id="rId23"/>
    <p:sldId id="277" r:id="rId24"/>
    <p:sldId id="276" r:id="rId25"/>
    <p:sldId id="292" r:id="rId26"/>
    <p:sldId id="293" r:id="rId27"/>
    <p:sldId id="294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938"/>
    <a:srgbClr val="002868"/>
    <a:srgbClr val="100E42"/>
    <a:srgbClr val="100E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89" autoAdjust="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162" y="2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0BE6C-4C0C-8046-BBFD-371AD798216A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EFCB1-D51F-8E41-88AA-D42180F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09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4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4277"/>
            <a:ext cx="4038600" cy="3394075"/>
          </a:xfrm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4277"/>
            <a:ext cx="4038600" cy="3394075"/>
          </a:xfrm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4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>
            <a:normAutofit/>
          </a:bodyPr>
          <a:lstStyle>
            <a:lvl1pPr>
              <a:defRPr sz="1800">
                <a:latin typeface="Arial"/>
                <a:cs typeface="Arial"/>
              </a:defRPr>
            </a:lvl1pPr>
            <a:lvl2pPr>
              <a:defRPr sz="18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>
            <a:normAutofit/>
          </a:bodyPr>
          <a:lstStyle>
            <a:lvl1pPr>
              <a:defRPr sz="1800">
                <a:latin typeface="Arial"/>
                <a:cs typeface="Arial"/>
              </a:defRPr>
            </a:lvl1pPr>
            <a:lvl2pPr>
              <a:defRPr sz="18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6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6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1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9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4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4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9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88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98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97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97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3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48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07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25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83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4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34325" y="0"/>
            <a:ext cx="9178325" cy="1200150"/>
          </a:xfrm>
          <a:prstGeom prst="rect">
            <a:avLst/>
          </a:prstGeom>
          <a:solidFill>
            <a:srgbClr val="100E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4277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8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81" r:id="rId1"/>
    <p:sldLayoutId id="2147493483" r:id="rId2"/>
    <p:sldLayoutId id="2147493484" r:id="rId3"/>
    <p:sldLayoutId id="2147493485" r:id="rId4"/>
    <p:sldLayoutId id="2147493486" r:id="rId5"/>
    <p:sldLayoutId id="2147493487" r:id="rId6"/>
    <p:sldLayoutId id="2147493488" r:id="rId7"/>
    <p:sldLayoutId id="2147493489" r:id="rId8"/>
    <p:sldLayoutId id="2147493490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0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video" Target="file:///C:\Users\juber\Documents\Papers\sk\depth_25m.mp4" TargetMode="Externa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66813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2048828" marR="3810" indent="-2039779">
              <a:lnSpc>
                <a:spcPts val="4860"/>
              </a:lnSpc>
              <a:spcBef>
                <a:spcPts val="686"/>
              </a:spcBef>
            </a:pPr>
            <a:r>
              <a:rPr lang="en-US" sz="4400" spc="-8" dirty="0">
                <a:solidFill>
                  <a:schemeClr val="tx1"/>
                </a:solidFill>
                <a:latin typeface="Calibri Light"/>
                <a:cs typeface="Calibri Light"/>
              </a:rPr>
              <a:t>Overview </a:t>
            </a:r>
            <a:r>
              <a:rPr lang="en-US" sz="4400" spc="-4" dirty="0">
                <a:solidFill>
                  <a:schemeClr val="tx1"/>
                </a:solidFill>
                <a:latin typeface="Calibri Light"/>
                <a:cs typeface="Calibri Light"/>
              </a:rPr>
              <a:t>of </a:t>
            </a:r>
            <a:r>
              <a:rPr lang="en-US" sz="4400" spc="-15" dirty="0">
                <a:solidFill>
                  <a:schemeClr val="tx1"/>
                </a:solidFill>
                <a:latin typeface="Calibri Light"/>
                <a:cs typeface="Calibri Light"/>
              </a:rPr>
              <a:t>Unsteady </a:t>
            </a:r>
            <a:r>
              <a:rPr lang="en-US" sz="4400" spc="-8" dirty="0">
                <a:solidFill>
                  <a:schemeClr val="tx1"/>
                </a:solidFill>
                <a:latin typeface="Calibri Light"/>
                <a:cs typeface="Calibri Light"/>
              </a:rPr>
              <a:t>Flow </a:t>
            </a:r>
            <a:r>
              <a:rPr lang="en-US" sz="4400" spc="-1013" dirty="0">
                <a:solidFill>
                  <a:schemeClr val="tx1"/>
                </a:solidFill>
                <a:latin typeface="Calibri Light"/>
                <a:cs typeface="Calibri Light"/>
              </a:rPr>
              <a:t> </a:t>
            </a:r>
            <a:r>
              <a:rPr lang="en-US" sz="4400" spc="-4" dirty="0">
                <a:solidFill>
                  <a:schemeClr val="tx1"/>
                </a:solidFill>
                <a:latin typeface="Calibri Light"/>
                <a:cs typeface="Calibri Light"/>
              </a:rPr>
              <a:t>Modeling</a:t>
            </a:r>
            <a:endParaRPr lang="en-US" sz="4400" dirty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C6ABD-DB74-2674-7A9C-1EDC96E89C9F}"/>
              </a:ext>
            </a:extLst>
          </p:cNvPr>
          <p:cNvSpPr txBox="1">
            <a:spLocks/>
          </p:cNvSpPr>
          <p:nvPr/>
        </p:nvSpPr>
        <p:spPr>
          <a:xfrm>
            <a:off x="0" y="391880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Giulia Sofia, PhD</a:t>
            </a:r>
          </a:p>
        </p:txBody>
      </p:sp>
      <p:pic>
        <p:nvPicPr>
          <p:cNvPr id="1026" name="Picture 2" descr="Streamflow Routing: International Edition: Steady vs. Non–Steady Flow">
            <a:extLst>
              <a:ext uri="{FF2B5EF4-FFF2-40B4-BE49-F238E27FC236}">
                <a16:creationId xmlns:a16="http://schemas.microsoft.com/office/drawing/2014/main" id="{FDC79CD1-2BC4-861C-9FE0-203551ACD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79736"/>
            <a:ext cx="38100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67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060750-7426-85A0-ACA2-E14CDEEA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1. What is Unsteady Flow?</a:t>
            </a:r>
          </a:p>
          <a:p>
            <a:r>
              <a:rPr lang="it-IT" dirty="0"/>
              <a:t>2. How is it different than Steady Flow?</a:t>
            </a:r>
          </a:p>
          <a:p>
            <a:r>
              <a:rPr lang="it-IT" dirty="0"/>
              <a:t>3. Why would you use it?</a:t>
            </a:r>
          </a:p>
        </p:txBody>
      </p:sp>
    </p:spTree>
    <p:extLst>
      <p:ext uri="{BB962C8B-B14F-4D97-AF65-F5344CB8AC3E}">
        <p14:creationId xmlns:p14="http://schemas.microsoft.com/office/powerpoint/2010/main" val="207072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Unsteady flow?</a:t>
            </a:r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A04D8AA9-8FCD-FAAE-F8C2-6DC8066BD160}"/>
              </a:ext>
            </a:extLst>
          </p:cNvPr>
          <p:cNvSpPr txBox="1"/>
          <p:nvPr/>
        </p:nvSpPr>
        <p:spPr>
          <a:xfrm>
            <a:off x="368344" y="1713123"/>
            <a:ext cx="221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Flow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changes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8" name="object 22">
            <a:extLst>
              <a:ext uri="{FF2B5EF4-FFF2-40B4-BE49-F238E27FC236}">
                <a16:creationId xmlns:a16="http://schemas.microsoft.com/office/drawing/2014/main" id="{833A1685-8B55-24F7-7D0C-FBC0938A13F0}"/>
              </a:ext>
            </a:extLst>
          </p:cNvPr>
          <p:cNvSpPr txBox="1"/>
          <p:nvPr/>
        </p:nvSpPr>
        <p:spPr>
          <a:xfrm>
            <a:off x="5690870" y="4384685"/>
            <a:ext cx="2995930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805">
              <a:lnSpc>
                <a:spcPts val="208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0000"/>
                </a:solidFill>
                <a:latin typeface="Calibri"/>
                <a:cs typeface="Calibri"/>
              </a:rPr>
              <a:t>changes gradually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</a:pPr>
            <a:r>
              <a:rPr sz="1800" spc="-5" dirty="0">
                <a:latin typeface="Calibri"/>
                <a:cs typeface="Calibri"/>
              </a:rPr>
              <a:t>Flow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does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not change</a:t>
            </a:r>
            <a:r>
              <a:rPr sz="1800" strike="sngStrike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26" name="Picture 2" descr="Unsteady flow and steady flow through area integration of the unsteady... |  Download Scientific Diagram">
            <a:extLst>
              <a:ext uri="{FF2B5EF4-FFF2-40B4-BE49-F238E27FC236}">
                <a16:creationId xmlns:a16="http://schemas.microsoft.com/office/drawing/2014/main" id="{A4DA52F3-D913-BC43-DDA6-76AB5779F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435" y="1404688"/>
            <a:ext cx="4180723" cy="283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0D682E4-702D-BAF9-753B-5A599F2BCAEB}"/>
              </a:ext>
            </a:extLst>
          </p:cNvPr>
          <p:cNvSpPr/>
          <p:nvPr/>
        </p:nvSpPr>
        <p:spPr>
          <a:xfrm>
            <a:off x="3640508" y="1563880"/>
            <a:ext cx="1495514" cy="29910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rgbClr val="0F1938"/>
                </a:solidFill>
              </a:rPr>
              <a:t>Unsteady 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CF853-9DBB-CF8F-D57A-5882F1706F6D}"/>
              </a:ext>
            </a:extLst>
          </p:cNvPr>
          <p:cNvSpPr/>
          <p:nvPr/>
        </p:nvSpPr>
        <p:spPr>
          <a:xfrm>
            <a:off x="5288422" y="2045752"/>
            <a:ext cx="1864408" cy="52599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rgbClr val="0F1938"/>
                </a:solidFill>
              </a:rPr>
              <a:t>Steady flow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9A0085-7C3F-58EA-905E-C9CA9666C4F6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2586399" y="1862983"/>
            <a:ext cx="943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A96EEC-4D84-E9DA-18A4-CF44287F3484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7152830" y="2674834"/>
            <a:ext cx="36005" cy="1709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58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Unsteady flow?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D682E4-702D-BAF9-753B-5A599F2BCAEB}"/>
              </a:ext>
            </a:extLst>
          </p:cNvPr>
          <p:cNvSpPr/>
          <p:nvPr/>
        </p:nvSpPr>
        <p:spPr>
          <a:xfrm>
            <a:off x="5357325" y="1520622"/>
            <a:ext cx="1495514" cy="29910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rgbClr val="0F1938"/>
                </a:solidFill>
              </a:rPr>
              <a:t>Unsteady 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CF853-9DBB-CF8F-D57A-5882F1706F6D}"/>
              </a:ext>
            </a:extLst>
          </p:cNvPr>
          <p:cNvSpPr/>
          <p:nvPr/>
        </p:nvSpPr>
        <p:spPr>
          <a:xfrm>
            <a:off x="2219308" y="1563171"/>
            <a:ext cx="1864408" cy="29639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rgbClr val="0F1938"/>
                </a:solidFill>
              </a:rPr>
              <a:t>Steady flow</a:t>
            </a:r>
          </a:p>
        </p:txBody>
      </p:sp>
      <p:grpSp>
        <p:nvGrpSpPr>
          <p:cNvPr id="3" name="object 9">
            <a:extLst>
              <a:ext uri="{FF2B5EF4-FFF2-40B4-BE49-F238E27FC236}">
                <a16:creationId xmlns:a16="http://schemas.microsoft.com/office/drawing/2014/main" id="{E8751501-1EED-CE8C-77F8-CAFB4D4A7E3D}"/>
              </a:ext>
            </a:extLst>
          </p:cNvPr>
          <p:cNvGrpSpPr/>
          <p:nvPr/>
        </p:nvGrpSpPr>
        <p:grpSpPr>
          <a:xfrm>
            <a:off x="1952460" y="1905037"/>
            <a:ext cx="5516105" cy="2516926"/>
            <a:chOff x="1646694" y="2985516"/>
            <a:chExt cx="8581390" cy="3666490"/>
          </a:xfrm>
        </p:grpSpPr>
        <p:pic>
          <p:nvPicPr>
            <p:cNvPr id="4" name="object 10">
              <a:extLst>
                <a:ext uri="{FF2B5EF4-FFF2-40B4-BE49-F238E27FC236}">
                  <a16:creationId xmlns:a16="http://schemas.microsoft.com/office/drawing/2014/main" id="{773BE83F-47C4-8825-4F48-4718B510DF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6694" y="4480560"/>
              <a:ext cx="8580868" cy="2170925"/>
            </a:xfrm>
            <a:prstGeom prst="rect">
              <a:avLst/>
            </a:prstGeom>
          </p:spPr>
        </p:pic>
        <p:pic>
          <p:nvPicPr>
            <p:cNvPr id="5" name="object 11">
              <a:extLst>
                <a:ext uri="{FF2B5EF4-FFF2-40B4-BE49-F238E27FC236}">
                  <a16:creationId xmlns:a16="http://schemas.microsoft.com/office/drawing/2014/main" id="{9E4711DA-2F1F-6E06-0FCB-CB29AC605CE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0715" y="2995434"/>
              <a:ext cx="831341" cy="830554"/>
            </a:xfrm>
            <a:prstGeom prst="rect">
              <a:avLst/>
            </a:prstGeom>
          </p:spPr>
        </p:pic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B50C21BC-24C9-3F7F-2BC0-3658DFB4C2CC}"/>
                </a:ext>
              </a:extLst>
            </p:cNvPr>
            <p:cNvSpPr/>
            <p:nvPr/>
          </p:nvSpPr>
          <p:spPr>
            <a:xfrm>
              <a:off x="2709671" y="3854296"/>
              <a:ext cx="386715" cy="1139825"/>
            </a:xfrm>
            <a:custGeom>
              <a:avLst/>
              <a:gdLst/>
              <a:ahLst/>
              <a:cxnLst/>
              <a:rect l="l" t="t" r="r" b="b"/>
              <a:pathLst>
                <a:path w="386714" h="1139825">
                  <a:moveTo>
                    <a:pt x="0" y="1139456"/>
                  </a:moveTo>
                  <a:lnTo>
                    <a:pt x="0" y="555586"/>
                  </a:lnTo>
                  <a:lnTo>
                    <a:pt x="386461" y="555586"/>
                  </a:lnTo>
                  <a:lnTo>
                    <a:pt x="386461" y="0"/>
                  </a:lnTo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E2643CE7-D2F6-52ED-CE02-BA77D46561FA}"/>
                </a:ext>
              </a:extLst>
            </p:cNvPr>
            <p:cNvSpPr/>
            <p:nvPr/>
          </p:nvSpPr>
          <p:spPr>
            <a:xfrm>
              <a:off x="3046122" y="3854288"/>
              <a:ext cx="100330" cy="85725"/>
            </a:xfrm>
            <a:custGeom>
              <a:avLst/>
              <a:gdLst/>
              <a:ahLst/>
              <a:cxnLst/>
              <a:rect l="l" t="t" r="r" b="b"/>
              <a:pathLst>
                <a:path w="100330" h="85725">
                  <a:moveTo>
                    <a:pt x="0" y="85725"/>
                  </a:moveTo>
                  <a:lnTo>
                    <a:pt x="50012" y="0"/>
                  </a:lnTo>
                  <a:lnTo>
                    <a:pt x="100012" y="85725"/>
                  </a:lnTo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C88FBF89-EAB9-0250-C951-FAEEB6EE0AB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8258" y="3001517"/>
              <a:ext cx="824483" cy="824483"/>
            </a:xfrm>
            <a:prstGeom prst="rect">
              <a:avLst/>
            </a:prstGeom>
          </p:spPr>
        </p:pic>
        <p:sp>
          <p:nvSpPr>
            <p:cNvPr id="9" name="object 15">
              <a:extLst>
                <a:ext uri="{FF2B5EF4-FFF2-40B4-BE49-F238E27FC236}">
                  <a16:creationId xmlns:a16="http://schemas.microsoft.com/office/drawing/2014/main" id="{E55016D2-5727-7631-02DB-69E7CD32CF8B}"/>
                </a:ext>
              </a:extLst>
            </p:cNvPr>
            <p:cNvSpPr/>
            <p:nvPr/>
          </p:nvSpPr>
          <p:spPr>
            <a:xfrm>
              <a:off x="4076700" y="3854297"/>
              <a:ext cx="0" cy="1139825"/>
            </a:xfrm>
            <a:custGeom>
              <a:avLst/>
              <a:gdLst/>
              <a:ahLst/>
              <a:cxnLst/>
              <a:rect l="l" t="t" r="r" b="b"/>
              <a:pathLst>
                <a:path h="1139825">
                  <a:moveTo>
                    <a:pt x="0" y="113945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6">
              <a:extLst>
                <a:ext uri="{FF2B5EF4-FFF2-40B4-BE49-F238E27FC236}">
                  <a16:creationId xmlns:a16="http://schemas.microsoft.com/office/drawing/2014/main" id="{C50A47D3-103C-27B6-70DA-1CFE9DF3D7BE}"/>
                </a:ext>
              </a:extLst>
            </p:cNvPr>
            <p:cNvSpPr/>
            <p:nvPr/>
          </p:nvSpPr>
          <p:spPr>
            <a:xfrm>
              <a:off x="4026699" y="3854288"/>
              <a:ext cx="100330" cy="85725"/>
            </a:xfrm>
            <a:custGeom>
              <a:avLst/>
              <a:gdLst/>
              <a:ahLst/>
              <a:cxnLst/>
              <a:rect l="l" t="t" r="r" b="b"/>
              <a:pathLst>
                <a:path w="100329" h="85725">
                  <a:moveTo>
                    <a:pt x="100012" y="85725"/>
                  </a:moveTo>
                  <a:lnTo>
                    <a:pt x="49999" y="0"/>
                  </a:lnTo>
                  <a:lnTo>
                    <a:pt x="0" y="85725"/>
                  </a:lnTo>
                </a:path>
              </a:pathLst>
            </a:custGeom>
            <a:ln w="285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7">
              <a:extLst>
                <a:ext uri="{FF2B5EF4-FFF2-40B4-BE49-F238E27FC236}">
                  <a16:creationId xmlns:a16="http://schemas.microsoft.com/office/drawing/2014/main" id="{228C5820-A24D-395E-C8E3-7AE42BDF614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2799" y="2985516"/>
              <a:ext cx="825245" cy="824483"/>
            </a:xfrm>
            <a:prstGeom prst="rect">
              <a:avLst/>
            </a:prstGeom>
          </p:spPr>
        </p:pic>
        <p:pic>
          <p:nvPicPr>
            <p:cNvPr id="12" name="object 18">
              <a:extLst>
                <a:ext uri="{FF2B5EF4-FFF2-40B4-BE49-F238E27FC236}">
                  <a16:creationId xmlns:a16="http://schemas.microsoft.com/office/drawing/2014/main" id="{09A44E02-A76E-537B-2C66-41F57FA40CC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6917" y="2985516"/>
              <a:ext cx="824483" cy="824483"/>
            </a:xfrm>
            <a:prstGeom prst="rect">
              <a:avLst/>
            </a:prstGeom>
          </p:spPr>
        </p:pic>
        <p:sp>
          <p:nvSpPr>
            <p:cNvPr id="13" name="object 19">
              <a:extLst>
                <a:ext uri="{FF2B5EF4-FFF2-40B4-BE49-F238E27FC236}">
                  <a16:creationId xmlns:a16="http://schemas.microsoft.com/office/drawing/2014/main" id="{4E2C4DB6-4935-AA2D-E838-56D8B94F3EC7}"/>
                </a:ext>
              </a:extLst>
            </p:cNvPr>
            <p:cNvSpPr/>
            <p:nvPr/>
          </p:nvSpPr>
          <p:spPr>
            <a:xfrm>
              <a:off x="3165347" y="3836758"/>
              <a:ext cx="4421505" cy="1148080"/>
            </a:xfrm>
            <a:custGeom>
              <a:avLst/>
              <a:gdLst/>
              <a:ahLst/>
              <a:cxnLst/>
              <a:rect l="l" t="t" r="r" b="b"/>
              <a:pathLst>
                <a:path w="4421505" h="1148079">
                  <a:moveTo>
                    <a:pt x="0" y="1147483"/>
                  </a:moveTo>
                  <a:lnTo>
                    <a:pt x="0" y="584720"/>
                  </a:lnTo>
                  <a:lnTo>
                    <a:pt x="4421124" y="584720"/>
                  </a:lnTo>
                  <a:lnTo>
                    <a:pt x="4421124" y="0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0">
              <a:extLst>
                <a:ext uri="{FF2B5EF4-FFF2-40B4-BE49-F238E27FC236}">
                  <a16:creationId xmlns:a16="http://schemas.microsoft.com/office/drawing/2014/main" id="{8D036FF4-5897-2B42-5392-789F195A8E16}"/>
                </a:ext>
              </a:extLst>
            </p:cNvPr>
            <p:cNvSpPr/>
            <p:nvPr/>
          </p:nvSpPr>
          <p:spPr>
            <a:xfrm>
              <a:off x="7536475" y="3836770"/>
              <a:ext cx="100330" cy="85725"/>
            </a:xfrm>
            <a:custGeom>
              <a:avLst/>
              <a:gdLst/>
              <a:ahLst/>
              <a:cxnLst/>
              <a:rect l="l" t="t" r="r" b="b"/>
              <a:pathLst>
                <a:path w="100329" h="85725">
                  <a:moveTo>
                    <a:pt x="0" y="85725"/>
                  </a:moveTo>
                  <a:lnTo>
                    <a:pt x="49999" y="0"/>
                  </a:lnTo>
                  <a:lnTo>
                    <a:pt x="100012" y="85712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21">
              <a:extLst>
                <a:ext uri="{FF2B5EF4-FFF2-40B4-BE49-F238E27FC236}">
                  <a16:creationId xmlns:a16="http://schemas.microsoft.com/office/drawing/2014/main" id="{09C49158-8C9B-7ECF-E144-073734DF10AC}"/>
                </a:ext>
              </a:extLst>
            </p:cNvPr>
            <p:cNvSpPr/>
            <p:nvPr/>
          </p:nvSpPr>
          <p:spPr>
            <a:xfrm>
              <a:off x="4357116" y="3882072"/>
              <a:ext cx="4210050" cy="1097280"/>
            </a:xfrm>
            <a:custGeom>
              <a:avLst/>
              <a:gdLst/>
              <a:ahLst/>
              <a:cxnLst/>
              <a:rect l="l" t="t" r="r" b="b"/>
              <a:pathLst>
                <a:path w="4210050" h="1097279">
                  <a:moveTo>
                    <a:pt x="0" y="1096835"/>
                  </a:moveTo>
                  <a:lnTo>
                    <a:pt x="0" y="683907"/>
                  </a:lnTo>
                  <a:lnTo>
                    <a:pt x="4210050" y="683907"/>
                  </a:lnTo>
                  <a:lnTo>
                    <a:pt x="4209905" y="647375"/>
                  </a:lnTo>
                  <a:lnTo>
                    <a:pt x="4209501" y="603765"/>
                  </a:lnTo>
                  <a:lnTo>
                    <a:pt x="4208882" y="554276"/>
                  </a:lnTo>
                  <a:lnTo>
                    <a:pt x="4208091" y="500109"/>
                  </a:lnTo>
                  <a:lnTo>
                    <a:pt x="4207173" y="442462"/>
                  </a:lnTo>
                  <a:lnTo>
                    <a:pt x="4206171" y="382536"/>
                  </a:lnTo>
                  <a:lnTo>
                    <a:pt x="4205129" y="321530"/>
                  </a:lnTo>
                  <a:lnTo>
                    <a:pt x="4204092" y="260644"/>
                  </a:lnTo>
                  <a:lnTo>
                    <a:pt x="4203103" y="201077"/>
                  </a:lnTo>
                  <a:lnTo>
                    <a:pt x="4202207" y="144030"/>
                  </a:lnTo>
                  <a:lnTo>
                    <a:pt x="4201447" y="90701"/>
                  </a:lnTo>
                  <a:lnTo>
                    <a:pt x="4200867" y="42291"/>
                  </a:lnTo>
                  <a:lnTo>
                    <a:pt x="4200512" y="0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2">
              <a:extLst>
                <a:ext uri="{FF2B5EF4-FFF2-40B4-BE49-F238E27FC236}">
                  <a16:creationId xmlns:a16="http://schemas.microsoft.com/office/drawing/2014/main" id="{C3995345-C470-5F89-97E7-325E59CA436D}"/>
                </a:ext>
              </a:extLst>
            </p:cNvPr>
            <p:cNvSpPr/>
            <p:nvPr/>
          </p:nvSpPr>
          <p:spPr>
            <a:xfrm>
              <a:off x="8507907" y="3881723"/>
              <a:ext cx="100330" cy="86360"/>
            </a:xfrm>
            <a:custGeom>
              <a:avLst/>
              <a:gdLst/>
              <a:ahLst/>
              <a:cxnLst/>
              <a:rect l="l" t="t" r="r" b="b"/>
              <a:pathLst>
                <a:path w="100329" h="86360">
                  <a:moveTo>
                    <a:pt x="0" y="85890"/>
                  </a:moveTo>
                  <a:lnTo>
                    <a:pt x="49720" y="0"/>
                  </a:lnTo>
                  <a:lnTo>
                    <a:pt x="100012" y="85559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72426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1DC1136-7C46-9D76-662A-63886C4D243B}"/>
              </a:ext>
            </a:extLst>
          </p:cNvPr>
          <p:cNvSpPr txBox="1"/>
          <p:nvPr/>
        </p:nvSpPr>
        <p:spPr>
          <a:xfrm>
            <a:off x="743952" y="1690005"/>
            <a:ext cx="7656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35430" indent="-743585">
              <a:lnSpc>
                <a:spcPct val="100000"/>
              </a:lnSpc>
              <a:buAutoNum type="arabicPeriod"/>
              <a:tabLst>
                <a:tab pos="1535430" algn="l"/>
                <a:tab pos="1536065" algn="l"/>
              </a:tabLst>
            </a:pPr>
            <a:r>
              <a:rPr lang="en-US" sz="2000" spc="-10" dirty="0"/>
              <a:t>How</a:t>
            </a:r>
            <a:r>
              <a:rPr lang="en-US" sz="2000" dirty="0"/>
              <a:t> is</a:t>
            </a:r>
            <a:r>
              <a:rPr lang="en-US" sz="2000" spc="-25" dirty="0"/>
              <a:t> </a:t>
            </a:r>
            <a:r>
              <a:rPr lang="en-US" sz="2000" dirty="0"/>
              <a:t>it</a:t>
            </a:r>
            <a:r>
              <a:rPr lang="en-US" sz="2000" spc="-10" dirty="0"/>
              <a:t> </a:t>
            </a:r>
            <a:r>
              <a:rPr lang="en-US" sz="2000" spc="-35" dirty="0"/>
              <a:t>different</a:t>
            </a:r>
            <a:r>
              <a:rPr lang="en-US" sz="2000" spc="-5" dirty="0"/>
              <a:t> </a:t>
            </a:r>
            <a:r>
              <a:rPr lang="en-US" sz="2000" dirty="0"/>
              <a:t>than</a:t>
            </a:r>
            <a:r>
              <a:rPr lang="en-US" sz="2000" spc="5" dirty="0"/>
              <a:t> </a:t>
            </a:r>
            <a:r>
              <a:rPr lang="en-US" sz="2000" spc="-10" dirty="0"/>
              <a:t>Steady</a:t>
            </a:r>
            <a:r>
              <a:rPr lang="en-US" sz="2000" spc="-5" dirty="0"/>
              <a:t> Flow?</a:t>
            </a:r>
          </a:p>
          <a:p>
            <a:pPr marL="2277745" lvl="1" indent="-1028700">
              <a:lnSpc>
                <a:spcPct val="100000"/>
              </a:lnSpc>
              <a:buAutoNum type="romanLcPeriod"/>
              <a:tabLst>
                <a:tab pos="2277745" algn="l"/>
                <a:tab pos="2278380" algn="l"/>
              </a:tabLst>
            </a:pPr>
            <a:r>
              <a:rPr lang="en-US" sz="2000" dirty="0">
                <a:cs typeface="Calibri"/>
              </a:rPr>
              <a:t>Boundary</a:t>
            </a:r>
            <a:r>
              <a:rPr lang="en-US" sz="2000" spc="1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Conditions</a:t>
            </a:r>
            <a:endParaRPr lang="en-US" sz="2000" dirty="0">
              <a:cs typeface="Calibri"/>
            </a:endParaRPr>
          </a:p>
          <a:p>
            <a:pPr marL="2277745" lvl="1" indent="-1028700">
              <a:lnSpc>
                <a:spcPct val="100000"/>
              </a:lnSpc>
              <a:buAutoNum type="romanLcPeriod"/>
              <a:tabLst>
                <a:tab pos="2277745" algn="l"/>
                <a:tab pos="2278380" algn="l"/>
              </a:tabLst>
            </a:pPr>
            <a:r>
              <a:rPr lang="en-US" sz="2000" spc="-15" dirty="0">
                <a:cs typeface="Calibri"/>
              </a:rPr>
              <a:t>Calibration</a:t>
            </a:r>
            <a:endParaRPr lang="en-US" sz="2000" dirty="0">
              <a:cs typeface="Calibri"/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B2E79137-9918-E7EA-C6F3-07E4F22D5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81EA605-5590-8A94-0355-C3C7A8D0B5A3}"/>
              </a:ext>
            </a:extLst>
          </p:cNvPr>
          <p:cNvSpPr txBox="1">
            <a:spLocks/>
          </p:cNvSpPr>
          <p:nvPr/>
        </p:nvSpPr>
        <p:spPr>
          <a:xfrm>
            <a:off x="457200" y="206375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How is it different than Steady flow?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4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6868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How is it different than Steady flow?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996C5-DCAD-D964-58C4-52470BB12051}"/>
              </a:ext>
            </a:extLst>
          </p:cNvPr>
          <p:cNvSpPr txBox="1"/>
          <p:nvPr/>
        </p:nvSpPr>
        <p:spPr>
          <a:xfrm>
            <a:off x="2349356" y="1250855"/>
            <a:ext cx="4634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49045" lvl="1">
              <a:lnSpc>
                <a:spcPct val="100000"/>
              </a:lnSpc>
              <a:tabLst>
                <a:tab pos="2277745" algn="l"/>
                <a:tab pos="2278380" algn="l"/>
              </a:tabLst>
            </a:pPr>
            <a:r>
              <a:rPr lang="en-US" sz="1800" dirty="0">
                <a:cs typeface="Calibri"/>
              </a:rPr>
              <a:t>Boundary</a:t>
            </a:r>
            <a:r>
              <a:rPr lang="en-US" sz="1800" spc="15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Conditions</a:t>
            </a:r>
            <a:endParaRPr lang="en-US" sz="1800" dirty="0">
              <a:cs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2284C1-3344-EF04-BA14-091FF5FEF1FF}"/>
              </a:ext>
            </a:extLst>
          </p:cNvPr>
          <p:cNvGrpSpPr/>
          <p:nvPr/>
        </p:nvGrpSpPr>
        <p:grpSpPr>
          <a:xfrm>
            <a:off x="138060" y="1883216"/>
            <a:ext cx="4763260" cy="1377068"/>
            <a:chOff x="138060" y="2183217"/>
            <a:chExt cx="4763260" cy="1377068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5D5AD61-3E00-C5DB-A49E-00DDA365AF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6075" y="2729705"/>
              <a:ext cx="825245" cy="824470"/>
            </a:xfrm>
            <a:prstGeom prst="rect">
              <a:avLst/>
            </a:prstGeom>
          </p:spPr>
        </p:pic>
        <p:grpSp>
          <p:nvGrpSpPr>
            <p:cNvPr id="5" name="object 5">
              <a:extLst>
                <a:ext uri="{FF2B5EF4-FFF2-40B4-BE49-F238E27FC236}">
                  <a16:creationId xmlns:a16="http://schemas.microsoft.com/office/drawing/2014/main" id="{C06795AC-4FCF-331D-22D9-A7170741F96D}"/>
                </a:ext>
              </a:extLst>
            </p:cNvPr>
            <p:cNvGrpSpPr/>
            <p:nvPr/>
          </p:nvGrpSpPr>
          <p:grpSpPr>
            <a:xfrm>
              <a:off x="1438284" y="2729705"/>
              <a:ext cx="2561590" cy="830580"/>
              <a:chOff x="1497330" y="3685032"/>
              <a:chExt cx="2561590" cy="830580"/>
            </a:xfrm>
          </p:grpSpPr>
          <p:pic>
            <p:nvPicPr>
              <p:cNvPr id="6" name="object 6">
                <a:extLst>
                  <a:ext uri="{FF2B5EF4-FFF2-40B4-BE49-F238E27FC236}">
                    <a16:creationId xmlns:a16="http://schemas.microsoft.com/office/drawing/2014/main" id="{9CD0A2DB-CF3E-FF2D-85DD-0EA08561C69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227831" y="3685032"/>
                <a:ext cx="830579" cy="830579"/>
              </a:xfrm>
              <a:prstGeom prst="rect">
                <a:avLst/>
              </a:prstGeom>
            </p:spPr>
          </p:pic>
          <p:pic>
            <p:nvPicPr>
              <p:cNvPr id="7" name="object 7">
                <a:extLst>
                  <a:ext uri="{FF2B5EF4-FFF2-40B4-BE49-F238E27FC236}">
                    <a16:creationId xmlns:a16="http://schemas.microsoft.com/office/drawing/2014/main" id="{AECA29AC-DCB5-6261-118D-52B6FB9CDB1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97330" y="3742182"/>
                <a:ext cx="998219" cy="769619"/>
              </a:xfrm>
              <a:prstGeom prst="rect">
                <a:avLst/>
              </a:prstGeom>
            </p:spPr>
          </p:pic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81A2927F-5B49-E51E-13DA-8F9572A69F3B}"/>
                  </a:ext>
                </a:extLst>
              </p:cNvPr>
              <p:cNvSpPr/>
              <p:nvPr/>
            </p:nvSpPr>
            <p:spPr>
              <a:xfrm>
                <a:off x="1907667" y="3805809"/>
                <a:ext cx="1295400" cy="34417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344170">
                    <a:moveTo>
                      <a:pt x="0" y="0"/>
                    </a:moveTo>
                    <a:lnTo>
                      <a:pt x="639051" y="0"/>
                    </a:lnTo>
                    <a:lnTo>
                      <a:pt x="639051" y="343662"/>
                    </a:lnTo>
                    <a:lnTo>
                      <a:pt x="1295019" y="343662"/>
                    </a:lnTo>
                  </a:path>
                </a:pathLst>
              </a:custGeom>
              <a:ln w="12700">
                <a:solidFill>
                  <a:srgbClr val="C00000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76EE3F94-2AB9-189A-794C-65DD6940A75E}"/>
                  </a:ext>
                </a:extLst>
              </p:cNvPr>
              <p:cNvSpPr/>
              <p:nvPr/>
            </p:nvSpPr>
            <p:spPr>
              <a:xfrm>
                <a:off x="3126487" y="4105017"/>
                <a:ext cx="762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8900">
                    <a:moveTo>
                      <a:pt x="0" y="0"/>
                    </a:moveTo>
                    <a:lnTo>
                      <a:pt x="76200" y="44450"/>
                    </a:lnTo>
                    <a:lnTo>
                      <a:pt x="0" y="88900"/>
                    </a:lnTo>
                  </a:path>
                </a:pathLst>
              </a:custGeom>
              <a:ln w="12700">
                <a:solidFill>
                  <a:srgbClr val="C00000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</p:grp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5F0E63D9-ED6D-E83F-B786-111F19D8A38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060" y="2723597"/>
              <a:ext cx="830579" cy="830579"/>
            </a:xfrm>
            <a:prstGeom prst="rect">
              <a:avLst/>
            </a:prstGeom>
          </p:spPr>
        </p:pic>
        <p:grpSp>
          <p:nvGrpSpPr>
            <p:cNvPr id="21" name="object 21">
              <a:extLst>
                <a:ext uri="{FF2B5EF4-FFF2-40B4-BE49-F238E27FC236}">
                  <a16:creationId xmlns:a16="http://schemas.microsoft.com/office/drawing/2014/main" id="{8463E8BD-81FC-A8BE-54DC-311503764EE4}"/>
                </a:ext>
              </a:extLst>
            </p:cNvPr>
            <p:cNvGrpSpPr/>
            <p:nvPr/>
          </p:nvGrpSpPr>
          <p:grpSpPr>
            <a:xfrm>
              <a:off x="1045221" y="3053535"/>
              <a:ext cx="318135" cy="171450"/>
              <a:chOff x="1103757" y="4014970"/>
              <a:chExt cx="318135" cy="171450"/>
            </a:xfrm>
          </p:grpSpPr>
          <p:sp>
            <p:nvSpPr>
              <p:cNvPr id="22" name="object 22">
                <a:extLst>
                  <a:ext uri="{FF2B5EF4-FFF2-40B4-BE49-F238E27FC236}">
                    <a16:creationId xmlns:a16="http://schemas.microsoft.com/office/drawing/2014/main" id="{79466ED0-93EE-547D-DAF9-4EDB18F8A28B}"/>
                  </a:ext>
                </a:extLst>
              </p:cNvPr>
              <p:cNvSpPr/>
              <p:nvPr/>
            </p:nvSpPr>
            <p:spPr>
              <a:xfrm>
                <a:off x="1103757" y="4100703"/>
                <a:ext cx="1752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5259">
                    <a:moveTo>
                      <a:pt x="0" y="0"/>
                    </a:moveTo>
                    <a:lnTo>
                      <a:pt x="175183" y="0"/>
                    </a:lnTo>
                  </a:path>
                </a:pathLst>
              </a:custGeom>
              <a:ln w="57150">
                <a:solidFill>
                  <a:srgbClr val="006FC0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23" name="object 23">
                <a:extLst>
                  <a:ext uri="{FF2B5EF4-FFF2-40B4-BE49-F238E27FC236}">
                    <a16:creationId xmlns:a16="http://schemas.microsoft.com/office/drawing/2014/main" id="{22ED6512-B524-7C2B-D56E-67E1C401D08B}"/>
                  </a:ext>
                </a:extLst>
              </p:cNvPr>
              <p:cNvSpPr/>
              <p:nvPr/>
            </p:nvSpPr>
            <p:spPr>
              <a:xfrm>
                <a:off x="1250351" y="4014970"/>
                <a:ext cx="17208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2084" h="171450">
                    <a:moveTo>
                      <a:pt x="12" y="0"/>
                    </a:moveTo>
                    <a:lnTo>
                      <a:pt x="0" y="171449"/>
                    </a:lnTo>
                    <a:lnTo>
                      <a:pt x="171462" y="85737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6FC0"/>
              </a:solidFill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5688E4-92C2-5A95-53E7-CAEC2854E498}"/>
                </a:ext>
              </a:extLst>
            </p:cNvPr>
            <p:cNvSpPr txBox="1"/>
            <p:nvPr/>
          </p:nvSpPr>
          <p:spPr>
            <a:xfrm>
              <a:off x="266976" y="2183217"/>
              <a:ext cx="46343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49045" lvl="1">
                <a:lnSpc>
                  <a:spcPct val="100000"/>
                </a:lnSpc>
                <a:tabLst>
                  <a:tab pos="2277745" algn="l"/>
                  <a:tab pos="2278380" algn="l"/>
                </a:tabLst>
              </a:pPr>
              <a:r>
                <a:rPr lang="en-US" sz="1800" dirty="0">
                  <a:cs typeface="Calibri"/>
                </a:rPr>
                <a:t>Hydrologic routing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F033C02-C7CD-42B9-37F6-3D8346BDF29D}"/>
              </a:ext>
            </a:extLst>
          </p:cNvPr>
          <p:cNvGrpSpPr/>
          <p:nvPr/>
        </p:nvGrpSpPr>
        <p:grpSpPr>
          <a:xfrm>
            <a:off x="4069979" y="3533736"/>
            <a:ext cx="5074021" cy="1421554"/>
            <a:chOff x="4069979" y="3533736"/>
            <a:chExt cx="5074021" cy="142155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E1822A1-754A-66DE-5643-3965D6FF5BC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4572" y="4042425"/>
              <a:ext cx="825245" cy="824458"/>
            </a:xfrm>
            <a:prstGeom prst="rect">
              <a:avLst/>
            </a:prstGeom>
          </p:spPr>
        </p:pic>
        <p:grpSp>
          <p:nvGrpSpPr>
            <p:cNvPr id="10" name="object 10">
              <a:extLst>
                <a:ext uri="{FF2B5EF4-FFF2-40B4-BE49-F238E27FC236}">
                  <a16:creationId xmlns:a16="http://schemas.microsoft.com/office/drawing/2014/main" id="{13A552E9-2CC2-1B1C-5B82-DF538AD1DB6E}"/>
                </a:ext>
              </a:extLst>
            </p:cNvPr>
            <p:cNvGrpSpPr/>
            <p:nvPr/>
          </p:nvGrpSpPr>
          <p:grpSpPr>
            <a:xfrm>
              <a:off x="4971044" y="4033271"/>
              <a:ext cx="2954655" cy="922019"/>
              <a:chOff x="7159370" y="3669794"/>
              <a:chExt cx="2954655" cy="922019"/>
            </a:xfrm>
          </p:grpSpPr>
          <p:pic>
            <p:nvPicPr>
              <p:cNvPr id="11" name="object 11">
                <a:extLst>
                  <a:ext uri="{FF2B5EF4-FFF2-40B4-BE49-F238E27FC236}">
                    <a16:creationId xmlns:a16="http://schemas.microsoft.com/office/drawing/2014/main" id="{1D378B50-F1ED-EF2F-0DC0-742F7BB51B28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289541" y="3678935"/>
                <a:ext cx="824483" cy="824483"/>
              </a:xfrm>
              <a:prstGeom prst="rect">
                <a:avLst/>
              </a:prstGeom>
            </p:spPr>
          </p:pic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26D7DF74-B37D-AFF6-A91D-675F0C9A93C5}"/>
                  </a:ext>
                </a:extLst>
              </p:cNvPr>
              <p:cNvSpPr/>
              <p:nvPr/>
            </p:nvSpPr>
            <p:spPr>
              <a:xfrm>
                <a:off x="7159370" y="4100703"/>
                <a:ext cx="1752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5259">
                    <a:moveTo>
                      <a:pt x="0" y="0"/>
                    </a:moveTo>
                    <a:lnTo>
                      <a:pt x="175183" y="0"/>
                    </a:lnTo>
                  </a:path>
                </a:pathLst>
              </a:custGeom>
              <a:ln w="57150">
                <a:solidFill>
                  <a:srgbClr val="006FC0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A81D8C0B-E96C-4EBA-3BDE-1E4322B3E8C6}"/>
                  </a:ext>
                </a:extLst>
              </p:cNvPr>
              <p:cNvSpPr/>
              <p:nvPr/>
            </p:nvSpPr>
            <p:spPr>
              <a:xfrm>
                <a:off x="7305965" y="4014970"/>
                <a:ext cx="17208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2084" h="171450">
                    <a:moveTo>
                      <a:pt x="12" y="0"/>
                    </a:moveTo>
                    <a:lnTo>
                      <a:pt x="0" y="171449"/>
                    </a:lnTo>
                    <a:lnTo>
                      <a:pt x="171462" y="85737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6FC0"/>
              </a:solidFill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pic>
            <p:nvPicPr>
              <p:cNvPr id="14" name="object 14">
                <a:extLst>
                  <a:ext uri="{FF2B5EF4-FFF2-40B4-BE49-F238E27FC236}">
                    <a16:creationId xmlns:a16="http://schemas.microsoft.com/office/drawing/2014/main" id="{0B42CA8A-205C-5848-2277-3404CE95F7F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552943" y="3742182"/>
                <a:ext cx="998219" cy="769619"/>
              </a:xfrm>
              <a:prstGeom prst="rect">
                <a:avLst/>
              </a:prstGeom>
            </p:spPr>
          </p:pic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C418222A-83D5-956B-12A4-E09AD99FB81B}"/>
                  </a:ext>
                </a:extLst>
              </p:cNvPr>
              <p:cNvSpPr/>
              <p:nvPr/>
            </p:nvSpPr>
            <p:spPr>
              <a:xfrm>
                <a:off x="7477124" y="3679319"/>
                <a:ext cx="1134110" cy="902969"/>
              </a:xfrm>
              <a:custGeom>
                <a:avLst/>
                <a:gdLst/>
                <a:ahLst/>
                <a:cxnLst/>
                <a:rect l="l" t="t" r="r" b="b"/>
                <a:pathLst>
                  <a:path w="1134109" h="902970">
                    <a:moveTo>
                      <a:pt x="0" y="150495"/>
                    </a:moveTo>
                    <a:lnTo>
                      <a:pt x="7673" y="102924"/>
                    </a:lnTo>
                    <a:lnTo>
                      <a:pt x="29038" y="61612"/>
                    </a:lnTo>
                    <a:lnTo>
                      <a:pt x="61617" y="29035"/>
                    </a:lnTo>
                    <a:lnTo>
                      <a:pt x="102929" y="7671"/>
                    </a:lnTo>
                    <a:lnTo>
                      <a:pt x="150495" y="0"/>
                    </a:lnTo>
                    <a:lnTo>
                      <a:pt x="983361" y="0"/>
                    </a:lnTo>
                    <a:lnTo>
                      <a:pt x="1030926" y="7671"/>
                    </a:lnTo>
                    <a:lnTo>
                      <a:pt x="1072238" y="29035"/>
                    </a:lnTo>
                    <a:lnTo>
                      <a:pt x="1104817" y="61612"/>
                    </a:lnTo>
                    <a:lnTo>
                      <a:pt x="1126182" y="102924"/>
                    </a:lnTo>
                    <a:lnTo>
                      <a:pt x="1133856" y="150495"/>
                    </a:lnTo>
                    <a:lnTo>
                      <a:pt x="1133856" y="752475"/>
                    </a:lnTo>
                    <a:lnTo>
                      <a:pt x="1126182" y="800040"/>
                    </a:lnTo>
                    <a:lnTo>
                      <a:pt x="1104817" y="841352"/>
                    </a:lnTo>
                    <a:lnTo>
                      <a:pt x="1072238" y="873931"/>
                    </a:lnTo>
                    <a:lnTo>
                      <a:pt x="1030926" y="895296"/>
                    </a:lnTo>
                    <a:lnTo>
                      <a:pt x="983361" y="902970"/>
                    </a:lnTo>
                    <a:lnTo>
                      <a:pt x="150495" y="902970"/>
                    </a:lnTo>
                    <a:lnTo>
                      <a:pt x="102929" y="895296"/>
                    </a:lnTo>
                    <a:lnTo>
                      <a:pt x="61617" y="873931"/>
                    </a:lnTo>
                    <a:lnTo>
                      <a:pt x="29038" y="841352"/>
                    </a:lnTo>
                    <a:lnTo>
                      <a:pt x="7673" y="800040"/>
                    </a:lnTo>
                    <a:lnTo>
                      <a:pt x="0" y="752475"/>
                    </a:lnTo>
                    <a:lnTo>
                      <a:pt x="0" y="150495"/>
                    </a:lnTo>
                    <a:close/>
                  </a:path>
                </a:pathLst>
              </a:custGeom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0C995BDF-35C7-7EC6-4CE6-A962DA5C8FB5}"/>
                  </a:ext>
                </a:extLst>
              </p:cNvPr>
              <p:cNvSpPr/>
              <p:nvPr/>
            </p:nvSpPr>
            <p:spPr>
              <a:xfrm>
                <a:off x="8617457" y="4119372"/>
                <a:ext cx="6311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31190">
                    <a:moveTo>
                      <a:pt x="0" y="0"/>
                    </a:moveTo>
                    <a:lnTo>
                      <a:pt x="630770" y="0"/>
                    </a:lnTo>
                  </a:path>
                </a:pathLst>
              </a:custGeom>
              <a:ln w="12700">
                <a:solidFill>
                  <a:srgbClr val="C00000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453F8C49-AB98-1D4A-5758-200E8932EC76}"/>
                  </a:ext>
                </a:extLst>
              </p:cNvPr>
              <p:cNvSpPr/>
              <p:nvPr/>
            </p:nvSpPr>
            <p:spPr>
              <a:xfrm>
                <a:off x="9172026" y="4074918"/>
                <a:ext cx="762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8900">
                    <a:moveTo>
                      <a:pt x="0" y="0"/>
                    </a:moveTo>
                    <a:lnTo>
                      <a:pt x="76200" y="44450"/>
                    </a:lnTo>
                    <a:lnTo>
                      <a:pt x="0" y="88900"/>
                    </a:lnTo>
                  </a:path>
                </a:pathLst>
              </a:custGeom>
              <a:ln w="12700">
                <a:solidFill>
                  <a:srgbClr val="C00000"/>
                </a:solidFill>
              </a:ln>
            </p:spPr>
            <p:txBody>
              <a:bodyPr wrap="square" lIns="0" tIns="0" rIns="0" bIns="0" rtlCol="0"/>
              <a:lstStyle/>
              <a:p>
                <a:endParaRPr sz="2400"/>
              </a:p>
            </p:txBody>
          </p:sp>
        </p:grpSp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E81A1F4E-C623-5EDA-B163-9912F01E4BC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9979" y="4042425"/>
              <a:ext cx="831341" cy="83056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E1D932-9652-59F2-770B-A9CE5527603D}"/>
                </a:ext>
              </a:extLst>
            </p:cNvPr>
            <p:cNvSpPr txBox="1"/>
            <p:nvPr/>
          </p:nvSpPr>
          <p:spPr>
            <a:xfrm>
              <a:off x="4509656" y="3533736"/>
              <a:ext cx="46343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49045" lvl="1">
                <a:lnSpc>
                  <a:spcPct val="100000"/>
                </a:lnSpc>
                <a:tabLst>
                  <a:tab pos="2277745" algn="l"/>
                  <a:tab pos="2278380" algn="l"/>
                </a:tabLst>
              </a:pPr>
              <a:r>
                <a:rPr lang="en-US" sz="1800" dirty="0">
                  <a:cs typeface="Calibri"/>
                </a:rPr>
                <a:t>Hydraulic routing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6868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How is it different than Steady flow?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1187CD-E487-4B66-A7A6-E78C966069BF}"/>
              </a:ext>
            </a:extLst>
          </p:cNvPr>
          <p:cNvSpPr txBox="1"/>
          <p:nvPr/>
        </p:nvSpPr>
        <p:spPr>
          <a:xfrm>
            <a:off x="338192" y="1497148"/>
            <a:ext cx="44020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Hydrologic-routing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methods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employ essentially the </a:t>
            </a:r>
            <a:r>
              <a:rPr lang="en-US" b="0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equation of continuity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according to which the difference between the inflow and outflow rate is equal to the rate of change of storage.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The continuity equation preserves the water volume in the channel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The relationship between storage and outflows are usually empirical in nature, and stage–discharge relationships may be used.  </a:t>
            </a:r>
            <a:endParaRPr lang="it-IT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50" name="Picture 2" descr="conceptual diagram showing a flowchart that begins with a plan-view of a basin with two river gauges.  An arrow leads from the upstream river gauge to a bell-curve hydrograph.  A second arrow leads from the downstream river gauge to hydrograph axes with a question mark representing the observed flow.">
            <a:extLst>
              <a:ext uri="{FF2B5EF4-FFF2-40B4-BE49-F238E27FC236}">
                <a16:creationId xmlns:a16="http://schemas.microsoft.com/office/drawing/2014/main" id="{57C6FFE0-9BE0-ED0F-DD02-52B333514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045" y="1425098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11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6868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How is it different than Steady flow?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1187CD-E487-4B66-A7A6-E78C966069BF}"/>
              </a:ext>
            </a:extLst>
          </p:cNvPr>
          <p:cNvSpPr txBox="1"/>
          <p:nvPr/>
        </p:nvSpPr>
        <p:spPr>
          <a:xfrm>
            <a:off x="338192" y="1497148"/>
            <a:ext cx="44020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Hydraulic-routing methods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continuity equation and adds an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energy budget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represented by the momentum equation.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way,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hydraulic routing accounts for the actual physics of water movement in the channel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onceptual diagram showing a flowchart that begins with a plan-view of a basin with two river gauges.  An arrow leads from the upstream river gauge to a bell-curve hydrograph.  A second arrow leads from the downstream river gauge to hydrograph axes with a question mark representing the observed flow.">
            <a:extLst>
              <a:ext uri="{FF2B5EF4-FFF2-40B4-BE49-F238E27FC236}">
                <a16:creationId xmlns:a16="http://schemas.microsoft.com/office/drawing/2014/main" id="{57C6FFE0-9BE0-ED0F-DD02-52B333514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045" y="1425098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12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32211" y="1674114"/>
            <a:ext cx="7943850" cy="262337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209675" marR="320040" indent="-1200626">
              <a:spcBef>
                <a:spcPts val="71"/>
              </a:spcBef>
              <a:tabLst>
                <a:tab pos="1277303" algn="l"/>
              </a:tabLst>
            </a:pPr>
            <a:r>
              <a:rPr sz="2400" b="1" spc="-4" dirty="0">
                <a:latin typeface="Arial"/>
                <a:cs typeface="Arial"/>
              </a:rPr>
              <a:t>Steady:		</a:t>
            </a:r>
            <a:r>
              <a:rPr sz="2400" spc="-4" dirty="0">
                <a:latin typeface="Arial"/>
                <a:cs typeface="Arial"/>
              </a:rPr>
              <a:t>Discharge (Q) at each cross section and </a:t>
            </a:r>
            <a:r>
              <a:rPr sz="2400" spc="-8" dirty="0">
                <a:latin typeface="Arial"/>
                <a:cs typeface="Arial"/>
              </a:rPr>
              <a:t>stage/ </a:t>
            </a:r>
            <a:r>
              <a:rPr sz="2400" spc="-656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discharge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relationship at D/S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25" dirty="0">
              <a:latin typeface="Arial"/>
              <a:cs typeface="Arial"/>
            </a:endParaRPr>
          </a:p>
          <a:p>
            <a:pPr>
              <a:spcBef>
                <a:spcPts val="26"/>
              </a:spcBef>
            </a:pPr>
            <a:endParaRPr sz="2363" dirty="0">
              <a:latin typeface="Arial"/>
              <a:cs typeface="Arial"/>
            </a:endParaRPr>
          </a:p>
          <a:p>
            <a:pPr marL="1681163" marR="3810" indent="-1672114">
              <a:tabLst>
                <a:tab pos="1631633" algn="l"/>
              </a:tabLst>
            </a:pPr>
            <a:r>
              <a:rPr sz="2400" b="1" spc="-4" dirty="0">
                <a:latin typeface="Arial"/>
                <a:cs typeface="Arial"/>
              </a:rPr>
              <a:t>Unsteady</a:t>
            </a:r>
            <a:r>
              <a:rPr sz="2400" spc="-4" dirty="0">
                <a:latin typeface="Arial"/>
                <a:cs typeface="Arial"/>
              </a:rPr>
              <a:t>:	Inflow hydrograph(s) at </a:t>
            </a:r>
            <a:r>
              <a:rPr sz="2400" spc="-8" dirty="0">
                <a:latin typeface="Arial"/>
                <a:cs typeface="Arial"/>
              </a:rPr>
              <a:t>boundaries </a:t>
            </a:r>
            <a:r>
              <a:rPr sz="2400" spc="-4" dirty="0">
                <a:latin typeface="Arial"/>
                <a:cs typeface="Arial"/>
              </a:rPr>
              <a:t>and </a:t>
            </a:r>
            <a:r>
              <a:rPr sz="2400" spc="-8" dirty="0">
                <a:latin typeface="Arial"/>
                <a:cs typeface="Arial"/>
              </a:rPr>
              <a:t>interior </a:t>
            </a:r>
            <a:r>
              <a:rPr sz="2400" spc="-656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locations, which are </a:t>
            </a:r>
            <a:r>
              <a:rPr sz="2400" spc="-8" dirty="0">
                <a:latin typeface="Arial"/>
                <a:cs typeface="Arial"/>
              </a:rPr>
              <a:t>routed </a:t>
            </a:r>
            <a:r>
              <a:rPr sz="2400" spc="-4" dirty="0">
                <a:latin typeface="Arial"/>
                <a:cs typeface="Arial"/>
              </a:rPr>
              <a:t>by the model, </a:t>
            </a:r>
            <a:r>
              <a:rPr sz="2400" spc="-8" dirty="0">
                <a:latin typeface="Arial"/>
                <a:cs typeface="Arial"/>
              </a:rPr>
              <a:t>and </a:t>
            </a:r>
            <a:r>
              <a:rPr sz="2400" spc="-4" dirty="0">
                <a:latin typeface="Arial"/>
                <a:cs typeface="Arial"/>
              </a:rPr>
              <a:t> stage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at D/S.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B383715-701E-437A-5B31-BBF5EB89B321}"/>
              </a:ext>
            </a:extLst>
          </p:cNvPr>
          <p:cNvSpPr txBox="1">
            <a:spLocks/>
          </p:cNvSpPr>
          <p:nvPr/>
        </p:nvSpPr>
        <p:spPr>
          <a:xfrm>
            <a:off x="457200" y="206375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How is it different than Steady flow?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2551" y="1433895"/>
            <a:ext cx="8170545" cy="3357394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9525">
              <a:spcBef>
                <a:spcPts val="1515"/>
              </a:spcBef>
            </a:pPr>
            <a:r>
              <a:rPr sz="2400" i="1" spc="-4" dirty="0">
                <a:latin typeface="Arial"/>
                <a:cs typeface="Arial"/>
              </a:rPr>
              <a:t>Algorithms</a:t>
            </a:r>
            <a:r>
              <a:rPr sz="2400" i="1" spc="-8" dirty="0">
                <a:latin typeface="Arial"/>
                <a:cs typeface="Arial"/>
              </a:rPr>
              <a:t> </a:t>
            </a:r>
            <a:r>
              <a:rPr sz="2400" i="1" spc="-4" dirty="0">
                <a:latin typeface="Arial"/>
                <a:cs typeface="Arial"/>
              </a:rPr>
              <a:t>used</a:t>
            </a:r>
            <a:r>
              <a:rPr sz="2400" i="1" spc="-23" dirty="0">
                <a:latin typeface="Arial"/>
                <a:cs typeface="Arial"/>
              </a:rPr>
              <a:t> </a:t>
            </a:r>
            <a:r>
              <a:rPr sz="2400" i="1" spc="-4" dirty="0">
                <a:latin typeface="Arial"/>
                <a:cs typeface="Arial"/>
              </a:rPr>
              <a:t>in</a:t>
            </a:r>
            <a:r>
              <a:rPr sz="2400" i="1" spc="-19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HEC-RAS:</a:t>
            </a:r>
            <a:endParaRPr sz="2400" dirty="0">
              <a:latin typeface="Arial"/>
              <a:cs typeface="Arial"/>
            </a:endParaRPr>
          </a:p>
          <a:p>
            <a:pPr marL="1299686" marR="3810" indent="-1290638">
              <a:spcBef>
                <a:spcPts val="1440"/>
              </a:spcBef>
              <a:tabLst>
                <a:tab pos="1260634" algn="l"/>
              </a:tabLst>
            </a:pPr>
            <a:r>
              <a:rPr sz="2400" b="1" spc="-4" dirty="0">
                <a:latin typeface="Arial"/>
                <a:cs typeface="Arial"/>
              </a:rPr>
              <a:t>Steady</a:t>
            </a:r>
            <a:r>
              <a:rPr sz="2400" spc="-4" dirty="0">
                <a:latin typeface="Arial"/>
                <a:cs typeface="Arial"/>
              </a:rPr>
              <a:t>:	Iterative</a:t>
            </a:r>
            <a:r>
              <a:rPr sz="2400" spc="-11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solution</a:t>
            </a:r>
            <a:r>
              <a:rPr sz="2400" spc="4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of the </a:t>
            </a:r>
            <a:r>
              <a:rPr sz="2400" spc="-8" dirty="0">
                <a:latin typeface="Arial"/>
                <a:cs typeface="Arial"/>
              </a:rPr>
              <a:t>energy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8" dirty="0">
                <a:latin typeface="Arial"/>
                <a:cs typeface="Arial"/>
              </a:rPr>
              <a:t>equation </a:t>
            </a:r>
            <a:r>
              <a:rPr sz="2400" spc="-4" dirty="0">
                <a:latin typeface="Arial"/>
                <a:cs typeface="Arial"/>
              </a:rPr>
              <a:t>section-by- </a:t>
            </a:r>
            <a:r>
              <a:rPr sz="2400" spc="-656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section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for</a:t>
            </a:r>
            <a:r>
              <a:rPr sz="2400" spc="-8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each</a:t>
            </a:r>
            <a:r>
              <a:rPr sz="2400" spc="-11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flow.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25" dirty="0">
              <a:latin typeface="Arial"/>
              <a:cs typeface="Arial"/>
            </a:endParaRPr>
          </a:p>
          <a:p>
            <a:pPr>
              <a:spcBef>
                <a:spcPts val="23"/>
              </a:spcBef>
            </a:pPr>
            <a:endParaRPr sz="2363" dirty="0">
              <a:latin typeface="Arial"/>
              <a:cs typeface="Arial"/>
            </a:endParaRPr>
          </a:p>
          <a:p>
            <a:pPr marL="1683068" marR="74295" indent="-1674019" algn="just"/>
            <a:r>
              <a:rPr sz="2400" b="1" spc="-4" dirty="0">
                <a:latin typeface="Arial"/>
                <a:cs typeface="Arial"/>
              </a:rPr>
              <a:t>Unsteady</a:t>
            </a:r>
            <a:r>
              <a:rPr sz="2400" spc="-4" dirty="0">
                <a:latin typeface="Arial"/>
                <a:cs typeface="Arial"/>
              </a:rPr>
              <a:t>: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Matrix solution of the continuity and </a:t>
            </a:r>
            <a:r>
              <a:rPr sz="2400" spc="-8" dirty="0">
                <a:latin typeface="Arial"/>
                <a:cs typeface="Arial"/>
              </a:rPr>
              <a:t>momentum </a:t>
            </a:r>
            <a:r>
              <a:rPr sz="2400" spc="-4" dirty="0">
                <a:latin typeface="Arial"/>
                <a:cs typeface="Arial"/>
              </a:rPr>
              <a:t> equations, for flow and stage, simultaneously </a:t>
            </a:r>
            <a:r>
              <a:rPr sz="2400" spc="-8" dirty="0">
                <a:latin typeface="Arial"/>
                <a:cs typeface="Arial"/>
              </a:rPr>
              <a:t>at </a:t>
            </a:r>
            <a:r>
              <a:rPr sz="2400" spc="-660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all sections each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time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step.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DB5FC-6110-A7BF-183D-02FDF2D61648}"/>
              </a:ext>
            </a:extLst>
          </p:cNvPr>
          <p:cNvSpPr txBox="1">
            <a:spLocks/>
          </p:cNvSpPr>
          <p:nvPr/>
        </p:nvSpPr>
        <p:spPr>
          <a:xfrm>
            <a:off x="457200" y="206375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How is it different than Steady flow?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A279B8-B4C4-AA7D-BCF8-AD36EEBBBAFF}"/>
              </a:ext>
            </a:extLst>
          </p:cNvPr>
          <p:cNvSpPr txBox="1"/>
          <p:nvPr/>
        </p:nvSpPr>
        <p:spPr>
          <a:xfrm>
            <a:off x="5845184" y="1203388"/>
            <a:ext cx="4639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Hydraulic-routing</a:t>
            </a:r>
            <a:endParaRPr lang="it-IT" dirty="0"/>
          </a:p>
        </p:txBody>
      </p:sp>
      <p:grpSp>
        <p:nvGrpSpPr>
          <p:cNvPr id="25" name="object 6">
            <a:extLst>
              <a:ext uri="{FF2B5EF4-FFF2-40B4-BE49-F238E27FC236}">
                <a16:creationId xmlns:a16="http://schemas.microsoft.com/office/drawing/2014/main" id="{0C1497C1-6C87-263F-65B2-1C470495CA6D}"/>
              </a:ext>
            </a:extLst>
          </p:cNvPr>
          <p:cNvGrpSpPr/>
          <p:nvPr/>
        </p:nvGrpSpPr>
        <p:grpSpPr>
          <a:xfrm>
            <a:off x="256323" y="1507549"/>
            <a:ext cx="3635194" cy="2337484"/>
            <a:chOff x="118871" y="1524000"/>
            <a:chExt cx="5480685" cy="3651250"/>
          </a:xfrm>
        </p:grpSpPr>
        <p:pic>
          <p:nvPicPr>
            <p:cNvPr id="27" name="object 7">
              <a:extLst>
                <a:ext uri="{FF2B5EF4-FFF2-40B4-BE49-F238E27FC236}">
                  <a16:creationId xmlns:a16="http://schemas.microsoft.com/office/drawing/2014/main" id="{618D9ACF-DA6A-75AD-3B2C-31709AB3D3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999" y="3309366"/>
              <a:ext cx="5129021" cy="1865375"/>
            </a:xfrm>
            <a:prstGeom prst="rect">
              <a:avLst/>
            </a:prstGeom>
          </p:spPr>
        </p:pic>
        <p:pic>
          <p:nvPicPr>
            <p:cNvPr id="28" name="object 8">
              <a:extLst>
                <a:ext uri="{FF2B5EF4-FFF2-40B4-BE49-F238E27FC236}">
                  <a16:creationId xmlns:a16="http://schemas.microsoft.com/office/drawing/2014/main" id="{7450DD34-3C57-3BF2-BB12-C21A624650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" y="1524000"/>
              <a:ext cx="708659" cy="708659"/>
            </a:xfrm>
            <a:prstGeom prst="rect">
              <a:avLst/>
            </a:prstGeom>
          </p:spPr>
        </p:pic>
        <p:pic>
          <p:nvPicPr>
            <p:cNvPr id="29" name="object 9">
              <a:extLst>
                <a:ext uri="{FF2B5EF4-FFF2-40B4-BE49-F238E27FC236}">
                  <a16:creationId xmlns:a16="http://schemas.microsoft.com/office/drawing/2014/main" id="{D5EC7B48-9356-626A-9867-68088DD2BBA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871" y="2266950"/>
              <a:ext cx="1311401" cy="1011173"/>
            </a:xfrm>
            <a:prstGeom prst="rect">
              <a:avLst/>
            </a:prstGeom>
          </p:spPr>
        </p:pic>
        <p:pic>
          <p:nvPicPr>
            <p:cNvPr id="30" name="object 10">
              <a:extLst>
                <a:ext uri="{FF2B5EF4-FFF2-40B4-BE49-F238E27FC236}">
                  <a16:creationId xmlns:a16="http://schemas.microsoft.com/office/drawing/2014/main" id="{68183911-6EFD-9467-47F1-2521648717E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04132" y="2282952"/>
              <a:ext cx="1311401" cy="1010411"/>
            </a:xfrm>
            <a:prstGeom prst="rect">
              <a:avLst/>
            </a:prstGeom>
          </p:spPr>
        </p:pic>
        <p:pic>
          <p:nvPicPr>
            <p:cNvPr id="31" name="object 11">
              <a:extLst>
                <a:ext uri="{FF2B5EF4-FFF2-40B4-BE49-F238E27FC236}">
                  <a16:creationId xmlns:a16="http://schemas.microsoft.com/office/drawing/2014/main" id="{5E45E093-B829-DB7A-20BF-A3B623C281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0515" y="1524000"/>
              <a:ext cx="708659" cy="708659"/>
            </a:xfrm>
            <a:prstGeom prst="rect">
              <a:avLst/>
            </a:prstGeom>
          </p:spPr>
        </p:pic>
        <p:sp>
          <p:nvSpPr>
            <p:cNvPr id="32" name="object 12">
              <a:extLst>
                <a:ext uri="{FF2B5EF4-FFF2-40B4-BE49-F238E27FC236}">
                  <a16:creationId xmlns:a16="http://schemas.microsoft.com/office/drawing/2014/main" id="{91A5656E-3804-792A-9B08-D3207A5F77D2}"/>
                </a:ext>
              </a:extLst>
            </p:cNvPr>
            <p:cNvSpPr/>
            <p:nvPr/>
          </p:nvSpPr>
          <p:spPr>
            <a:xfrm>
              <a:off x="633221" y="2348483"/>
              <a:ext cx="4076065" cy="0"/>
            </a:xfrm>
            <a:custGeom>
              <a:avLst/>
              <a:gdLst/>
              <a:ahLst/>
              <a:cxnLst/>
              <a:rect l="l" t="t" r="r" b="b"/>
              <a:pathLst>
                <a:path w="4076065">
                  <a:moveTo>
                    <a:pt x="0" y="0"/>
                  </a:moveTo>
                  <a:lnTo>
                    <a:pt x="4076039" y="0"/>
                  </a:lnTo>
                </a:path>
              </a:pathLst>
            </a:custGeom>
            <a:ln w="6350">
              <a:solidFill>
                <a:srgbClr val="00AFE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4">
            <a:extLst>
              <a:ext uri="{FF2B5EF4-FFF2-40B4-BE49-F238E27FC236}">
                <a16:creationId xmlns:a16="http://schemas.microsoft.com/office/drawing/2014/main" id="{273E26E5-8DD1-86FE-6075-F2E58257FB75}"/>
              </a:ext>
            </a:extLst>
          </p:cNvPr>
          <p:cNvGrpSpPr/>
          <p:nvPr/>
        </p:nvGrpSpPr>
        <p:grpSpPr>
          <a:xfrm>
            <a:off x="4469923" y="1507549"/>
            <a:ext cx="3864315" cy="2346683"/>
            <a:chOff x="6235635" y="1505711"/>
            <a:chExt cx="5722620" cy="3651250"/>
          </a:xfrm>
        </p:grpSpPr>
        <p:pic>
          <p:nvPicPr>
            <p:cNvPr id="40" name="object 35">
              <a:extLst>
                <a:ext uri="{FF2B5EF4-FFF2-40B4-BE49-F238E27FC236}">
                  <a16:creationId xmlns:a16="http://schemas.microsoft.com/office/drawing/2014/main" id="{DF0FEBF6-9A7F-DD5D-096B-F27811D363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9044" y="3291077"/>
              <a:ext cx="5129009" cy="1865375"/>
            </a:xfrm>
            <a:prstGeom prst="rect">
              <a:avLst/>
            </a:prstGeom>
          </p:spPr>
        </p:pic>
        <p:pic>
          <p:nvPicPr>
            <p:cNvPr id="41" name="object 36">
              <a:extLst>
                <a:ext uri="{FF2B5EF4-FFF2-40B4-BE49-F238E27FC236}">
                  <a16:creationId xmlns:a16="http://schemas.microsoft.com/office/drawing/2014/main" id="{8E286188-00A9-9B76-2538-0F035F919F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6916" y="1505711"/>
              <a:ext cx="708659" cy="708659"/>
            </a:xfrm>
            <a:prstGeom prst="rect">
              <a:avLst/>
            </a:prstGeom>
          </p:spPr>
        </p:pic>
        <p:pic>
          <p:nvPicPr>
            <p:cNvPr id="42" name="object 37">
              <a:extLst>
                <a:ext uri="{FF2B5EF4-FFF2-40B4-BE49-F238E27FC236}">
                  <a16:creationId xmlns:a16="http://schemas.microsoft.com/office/drawing/2014/main" id="{51600BCB-6D69-F740-451B-444A761A49C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6916" y="2249424"/>
              <a:ext cx="1311401" cy="1010411"/>
            </a:xfrm>
            <a:prstGeom prst="rect">
              <a:avLst/>
            </a:prstGeom>
          </p:spPr>
        </p:pic>
        <p:pic>
          <p:nvPicPr>
            <p:cNvPr id="43" name="object 38">
              <a:extLst>
                <a:ext uri="{FF2B5EF4-FFF2-40B4-BE49-F238E27FC236}">
                  <a16:creationId xmlns:a16="http://schemas.microsoft.com/office/drawing/2014/main" id="{E5D56105-60A6-72E7-92C1-5ACE2A53CEC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52176" y="2264664"/>
              <a:ext cx="1310639" cy="1010411"/>
            </a:xfrm>
            <a:prstGeom prst="rect">
              <a:avLst/>
            </a:prstGeom>
          </p:spPr>
        </p:pic>
        <p:sp>
          <p:nvSpPr>
            <p:cNvPr id="44" name="object 39">
              <a:extLst>
                <a:ext uri="{FF2B5EF4-FFF2-40B4-BE49-F238E27FC236}">
                  <a16:creationId xmlns:a16="http://schemas.microsoft.com/office/drawing/2014/main" id="{BD85F03E-16FD-D552-2539-AF821B1A6BF6}"/>
                </a:ext>
              </a:extLst>
            </p:cNvPr>
            <p:cNvSpPr/>
            <p:nvPr/>
          </p:nvSpPr>
          <p:spPr>
            <a:xfrm>
              <a:off x="7080504" y="2330196"/>
              <a:ext cx="4076065" cy="0"/>
            </a:xfrm>
            <a:custGeom>
              <a:avLst/>
              <a:gdLst/>
              <a:ahLst/>
              <a:cxnLst/>
              <a:rect l="l" t="t" r="r" b="b"/>
              <a:pathLst>
                <a:path w="4076065">
                  <a:moveTo>
                    <a:pt x="0" y="0"/>
                  </a:moveTo>
                  <a:lnTo>
                    <a:pt x="4076039" y="0"/>
                  </a:lnTo>
                </a:path>
              </a:pathLst>
            </a:custGeom>
            <a:ln w="6350">
              <a:solidFill>
                <a:srgbClr val="00AFE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0">
              <a:extLst>
                <a:ext uri="{FF2B5EF4-FFF2-40B4-BE49-F238E27FC236}">
                  <a16:creationId xmlns:a16="http://schemas.microsoft.com/office/drawing/2014/main" id="{7CA33376-926F-4085-217B-DB4C43AC166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0714" y="2452877"/>
              <a:ext cx="715517" cy="715517"/>
            </a:xfrm>
            <a:prstGeom prst="rect">
              <a:avLst/>
            </a:prstGeom>
          </p:spPr>
        </p:pic>
        <p:sp>
          <p:nvSpPr>
            <p:cNvPr id="46" name="object 41">
              <a:extLst>
                <a:ext uri="{FF2B5EF4-FFF2-40B4-BE49-F238E27FC236}">
                  <a16:creationId xmlns:a16="http://schemas.microsoft.com/office/drawing/2014/main" id="{AF52772C-6806-D949-E98F-98457CB17082}"/>
                </a:ext>
              </a:extLst>
            </p:cNvPr>
            <p:cNvSpPr/>
            <p:nvPr/>
          </p:nvSpPr>
          <p:spPr>
            <a:xfrm>
              <a:off x="6249922" y="2773680"/>
              <a:ext cx="542290" cy="1370330"/>
            </a:xfrm>
            <a:custGeom>
              <a:avLst/>
              <a:gdLst/>
              <a:ahLst/>
              <a:cxnLst/>
              <a:rect l="l" t="t" r="r" b="b"/>
              <a:pathLst>
                <a:path w="542290" h="1370329">
                  <a:moveTo>
                    <a:pt x="311734" y="0"/>
                  </a:moveTo>
                  <a:lnTo>
                    <a:pt x="0" y="0"/>
                  </a:lnTo>
                  <a:lnTo>
                    <a:pt x="0" y="1370076"/>
                  </a:lnTo>
                  <a:lnTo>
                    <a:pt x="541972" y="1370076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2">
              <a:extLst>
                <a:ext uri="{FF2B5EF4-FFF2-40B4-BE49-F238E27FC236}">
                  <a16:creationId xmlns:a16="http://schemas.microsoft.com/office/drawing/2014/main" id="{995FF26C-9673-9BE5-597F-9497BA3BAFF8}"/>
                </a:ext>
              </a:extLst>
            </p:cNvPr>
            <p:cNvSpPr/>
            <p:nvPr/>
          </p:nvSpPr>
          <p:spPr>
            <a:xfrm>
              <a:off x="6777611" y="410088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AF624C5F-A54D-6A53-28AC-2302002450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053" y="3923556"/>
            <a:ext cx="7381653" cy="107020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B756CE-9696-8407-B408-D9383CA2B188}"/>
              </a:ext>
            </a:extLst>
          </p:cNvPr>
          <p:cNvSpPr/>
          <p:nvPr/>
        </p:nvSpPr>
        <p:spPr>
          <a:xfrm>
            <a:off x="4239491" y="1295400"/>
            <a:ext cx="4474323" cy="369835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AB3F7-7E68-E520-0537-409CAEEFC544}"/>
              </a:ext>
            </a:extLst>
          </p:cNvPr>
          <p:cNvSpPr txBox="1"/>
          <p:nvPr/>
        </p:nvSpPr>
        <p:spPr>
          <a:xfrm>
            <a:off x="788502" y="1168943"/>
            <a:ext cx="4639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Hydrologic-routing</a:t>
            </a:r>
            <a:endParaRPr lang="it-IT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B944B7-EA9F-09B6-62BA-038457192875}"/>
              </a:ext>
            </a:extLst>
          </p:cNvPr>
          <p:cNvSpPr txBox="1">
            <a:spLocks/>
          </p:cNvSpPr>
          <p:nvPr/>
        </p:nvSpPr>
        <p:spPr>
          <a:xfrm>
            <a:off x="457200" y="206375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How is it different than Steady flow?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41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1DC1136-7C46-9D76-662A-63886C4D243B}"/>
              </a:ext>
            </a:extLst>
          </p:cNvPr>
          <p:cNvSpPr txBox="1"/>
          <p:nvPr/>
        </p:nvSpPr>
        <p:spPr>
          <a:xfrm>
            <a:off x="0" y="1248311"/>
            <a:ext cx="7656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1845">
              <a:lnSpc>
                <a:spcPct val="100000"/>
              </a:lnSpc>
              <a:tabLst>
                <a:tab pos="1535430" algn="l"/>
                <a:tab pos="1536065" algn="l"/>
              </a:tabLst>
            </a:pPr>
            <a:r>
              <a:rPr lang="en-US" sz="2000" dirty="0">
                <a:cs typeface="Calibri"/>
              </a:rPr>
              <a:t>Calibration</a:t>
            </a:r>
          </a:p>
        </p:txBody>
      </p:sp>
      <p:pic>
        <p:nvPicPr>
          <p:cNvPr id="2050" name="Picture 2" descr="Using the Automated Calibration Feature">
            <a:extLst>
              <a:ext uri="{FF2B5EF4-FFF2-40B4-BE49-F238E27FC236}">
                <a16:creationId xmlns:a16="http://schemas.microsoft.com/office/drawing/2014/main" id="{251594DF-CA15-D731-83E6-7BFB3F051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407" y="2178587"/>
            <a:ext cx="428625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A392F52-7150-14E0-389E-1DB3C15C151C}"/>
              </a:ext>
            </a:extLst>
          </p:cNvPr>
          <p:cNvSpPr/>
          <p:nvPr/>
        </p:nvSpPr>
        <p:spPr>
          <a:xfrm>
            <a:off x="5572108" y="1711368"/>
            <a:ext cx="1864408" cy="29639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rgbClr val="0F1938"/>
                </a:solidFill>
              </a:rPr>
              <a:t>Steady 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58163-082A-8FAA-8840-3E0CC6C37BD2}"/>
              </a:ext>
            </a:extLst>
          </p:cNvPr>
          <p:cNvSpPr txBox="1">
            <a:spLocks/>
          </p:cNvSpPr>
          <p:nvPr/>
        </p:nvSpPr>
        <p:spPr>
          <a:xfrm>
            <a:off x="457200" y="206375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How is it different than Steady flow?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21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1DC1136-7C46-9D76-662A-63886C4D243B}"/>
              </a:ext>
            </a:extLst>
          </p:cNvPr>
          <p:cNvSpPr txBox="1"/>
          <p:nvPr/>
        </p:nvSpPr>
        <p:spPr>
          <a:xfrm>
            <a:off x="0" y="1248311"/>
            <a:ext cx="7656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1845">
              <a:lnSpc>
                <a:spcPct val="100000"/>
              </a:lnSpc>
              <a:tabLst>
                <a:tab pos="1535430" algn="l"/>
                <a:tab pos="1536065" algn="l"/>
              </a:tabLst>
            </a:pPr>
            <a:r>
              <a:rPr lang="en-US" sz="2000" dirty="0">
                <a:cs typeface="Calibri"/>
              </a:rPr>
              <a:t>Calibration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392F52-7150-14E0-389E-1DB3C15C151C}"/>
              </a:ext>
            </a:extLst>
          </p:cNvPr>
          <p:cNvSpPr/>
          <p:nvPr/>
        </p:nvSpPr>
        <p:spPr>
          <a:xfrm>
            <a:off x="5572108" y="1711368"/>
            <a:ext cx="1864408" cy="29639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rgbClr val="0F1938"/>
                </a:solidFill>
              </a:rPr>
              <a:t>Unsteady flow</a:t>
            </a:r>
          </a:p>
        </p:txBody>
      </p:sp>
      <p:pic>
        <p:nvPicPr>
          <p:cNvPr id="8194" name="Picture 2" descr="Hydrology | Free Full-Text | Development of Flood Warning System and Flood  Inundation Mapping Using Field Survey and LiDAR Data for the Grand River  near the City of Painesville, Ohio">
            <a:extLst>
              <a:ext uri="{FF2B5EF4-FFF2-40B4-BE49-F238E27FC236}">
                <a16:creationId xmlns:a16="http://schemas.microsoft.com/office/drawing/2014/main" id="{6F9186FA-ACE3-5544-F461-B8AF893F82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262743" y="2275355"/>
            <a:ext cx="7110413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7D11BBD-8F90-1C13-4700-7D0028B3BDC1}"/>
              </a:ext>
            </a:extLst>
          </p:cNvPr>
          <p:cNvSpPr txBox="1">
            <a:spLocks/>
          </p:cNvSpPr>
          <p:nvPr/>
        </p:nvSpPr>
        <p:spPr>
          <a:xfrm>
            <a:off x="457200" y="206375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How is it different than Steady flow?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0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392F52-7150-14E0-389E-1DB3C15C151C}"/>
              </a:ext>
            </a:extLst>
          </p:cNvPr>
          <p:cNvSpPr/>
          <p:nvPr/>
        </p:nvSpPr>
        <p:spPr>
          <a:xfrm>
            <a:off x="5572108" y="1711368"/>
            <a:ext cx="1864408" cy="29639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rgbClr val="0F1938"/>
                </a:solidFill>
              </a:rPr>
              <a:t>Unsteady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92DC6-7927-8236-693B-FFF36FB346E1}"/>
              </a:ext>
            </a:extLst>
          </p:cNvPr>
          <p:cNvSpPr txBox="1"/>
          <p:nvPr/>
        </p:nvSpPr>
        <p:spPr>
          <a:xfrm>
            <a:off x="305659" y="2165533"/>
            <a:ext cx="85326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events being modeled are very dynamic with respect to time (i.e., flood waves; flash floods; river systems in which the peak flow comes up very quickly, stays high for a very short time, and then recedes quickly).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flow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Extremely flat river systems, where gravity, hydrostatic pressure, and friction are not necessarily the only significant force acting on the flow (i.e. local and convective acceleration forces).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Systems with structures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2371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033" y="194402"/>
            <a:ext cx="8972367" cy="800059"/>
          </a:xfrm>
          <a:prstGeom prst="rect">
            <a:avLst/>
          </a:prstGeom>
        </p:spPr>
        <p:txBody>
          <a:bodyPr vert="horz" wrap="square" lIns="0" tIns="55721" rIns="0" bIns="0" rtlCol="0" anchor="ctr">
            <a:spAutoFit/>
          </a:bodyPr>
          <a:lstStyle/>
          <a:p>
            <a:pPr marL="689610" marR="684848" algn="ctr">
              <a:lnSpc>
                <a:spcPts val="2918"/>
              </a:lnSpc>
              <a:spcBef>
                <a:spcPts val="439"/>
              </a:spcBef>
            </a:pPr>
            <a:r>
              <a:rPr sz="2700" spc="-30" dirty="0"/>
              <a:t>Unsteady</a:t>
            </a:r>
            <a:r>
              <a:rPr sz="2700" spc="-49" dirty="0"/>
              <a:t> </a:t>
            </a:r>
            <a:r>
              <a:rPr sz="2700" spc="-19" dirty="0"/>
              <a:t>Flow</a:t>
            </a:r>
            <a:r>
              <a:rPr sz="2700" spc="-68" dirty="0"/>
              <a:t> </a:t>
            </a:r>
            <a:r>
              <a:rPr sz="2700" spc="-30" dirty="0"/>
              <a:t>Routing</a:t>
            </a:r>
            <a:r>
              <a:rPr sz="2700" spc="-60" dirty="0"/>
              <a:t> </a:t>
            </a:r>
            <a:r>
              <a:rPr sz="2700" spc="-11" dirty="0"/>
              <a:t>(1D</a:t>
            </a:r>
            <a:r>
              <a:rPr sz="2700" spc="-53" dirty="0"/>
              <a:t> </a:t>
            </a:r>
            <a:r>
              <a:rPr sz="2700" spc="-11" dirty="0"/>
              <a:t>or</a:t>
            </a:r>
            <a:r>
              <a:rPr sz="2700" spc="-49" dirty="0"/>
              <a:t> </a:t>
            </a:r>
            <a:r>
              <a:rPr sz="2700" spc="-26" dirty="0"/>
              <a:t>2D) </a:t>
            </a:r>
            <a:r>
              <a:rPr sz="2700" spc="-600" dirty="0"/>
              <a:t> </a:t>
            </a:r>
            <a:r>
              <a:rPr sz="2700" spc="-34" dirty="0"/>
              <a:t>vs</a:t>
            </a:r>
            <a:endParaRPr sz="2700" dirty="0"/>
          </a:p>
          <a:p>
            <a:pPr algn="ctr">
              <a:lnSpc>
                <a:spcPts val="2872"/>
              </a:lnSpc>
            </a:pPr>
            <a:r>
              <a:rPr sz="2700" spc="-30" dirty="0"/>
              <a:t>Hydrologic</a:t>
            </a:r>
            <a:r>
              <a:rPr sz="2700" spc="-49" dirty="0"/>
              <a:t> </a:t>
            </a:r>
            <a:r>
              <a:rPr sz="2700" spc="-23" dirty="0"/>
              <a:t>Routing/Steady</a:t>
            </a:r>
            <a:r>
              <a:rPr sz="2700" spc="-41" dirty="0"/>
              <a:t> </a:t>
            </a:r>
            <a:r>
              <a:rPr sz="2700" spc="-19" dirty="0"/>
              <a:t>Flow</a:t>
            </a:r>
            <a:r>
              <a:rPr sz="2700" spc="-64" dirty="0"/>
              <a:t> </a:t>
            </a:r>
            <a:r>
              <a:rPr sz="2700" spc="-34" dirty="0"/>
              <a:t>Hydraulics?</a:t>
            </a:r>
            <a:endParaRPr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297543" y="1254882"/>
            <a:ext cx="8548914" cy="36942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499" indent="-171450">
              <a:lnSpc>
                <a:spcPts val="2614"/>
              </a:lnSpc>
              <a:spcBef>
                <a:spcPts val="75"/>
              </a:spcBef>
              <a:buFont typeface="Arial"/>
              <a:buChar char="•"/>
              <a:tabLst>
                <a:tab pos="180975" algn="l"/>
              </a:tabLst>
            </a:pPr>
            <a:r>
              <a:rPr sz="2325" spc="-8" dirty="0">
                <a:latin typeface="Calibri"/>
                <a:cs typeface="Calibri"/>
              </a:rPr>
              <a:t>Considerations:</a:t>
            </a:r>
            <a:endParaRPr sz="2325" dirty="0">
              <a:latin typeface="Calibri"/>
              <a:cs typeface="Calibri"/>
            </a:endParaRPr>
          </a:p>
          <a:p>
            <a:pPr marL="523875" marR="3810" lvl="1" indent="-171926">
              <a:lnSpc>
                <a:spcPct val="70000"/>
              </a:lnSpc>
              <a:spcBef>
                <a:spcPts val="551"/>
              </a:spcBef>
              <a:buFont typeface="Arial"/>
              <a:buChar char="•"/>
              <a:tabLst>
                <a:tab pos="524351" algn="l"/>
              </a:tabLst>
            </a:pPr>
            <a:r>
              <a:rPr sz="2025" spc="-11" dirty="0">
                <a:latin typeface="Calibri"/>
                <a:cs typeface="Calibri"/>
              </a:rPr>
              <a:t>Physical </a:t>
            </a:r>
            <a:r>
              <a:rPr sz="2025" spc="-4" dirty="0">
                <a:latin typeface="Calibri"/>
                <a:cs typeface="Calibri"/>
              </a:rPr>
              <a:t>description of the </a:t>
            </a:r>
            <a:r>
              <a:rPr sz="2025" spc="-8" dirty="0">
                <a:latin typeface="Calibri"/>
                <a:cs typeface="Calibri"/>
              </a:rPr>
              <a:t>river </a:t>
            </a:r>
            <a:r>
              <a:rPr sz="2025" spc="-4" dirty="0">
                <a:latin typeface="Calibri"/>
                <a:cs typeface="Calibri"/>
              </a:rPr>
              <a:t>channels, floodplain </a:t>
            </a:r>
            <a:r>
              <a:rPr sz="2025" spc="-8" dirty="0">
                <a:latin typeface="Calibri"/>
                <a:cs typeface="Calibri"/>
              </a:rPr>
              <a:t>areas, bridges/ </a:t>
            </a:r>
            <a:r>
              <a:rPr sz="2025" spc="-450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culvert,</a:t>
            </a:r>
            <a:r>
              <a:rPr sz="2025" spc="-8" dirty="0">
                <a:latin typeface="Calibri"/>
                <a:cs typeface="Calibri"/>
              </a:rPr>
              <a:t> levees,</a:t>
            </a:r>
            <a:r>
              <a:rPr sz="2025" spc="-11" dirty="0">
                <a:latin typeface="Calibri"/>
                <a:cs typeface="Calibri"/>
              </a:rPr>
              <a:t> road,</a:t>
            </a:r>
            <a:r>
              <a:rPr sz="2025" spc="-15" dirty="0">
                <a:latin typeface="Calibri"/>
                <a:cs typeface="Calibri"/>
              </a:rPr>
              <a:t> hydraulic</a:t>
            </a:r>
            <a:r>
              <a:rPr sz="2025" spc="-8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structures</a:t>
            </a:r>
            <a:endParaRPr sz="2025" dirty="0">
              <a:latin typeface="Calibri"/>
              <a:cs typeface="Calibri"/>
            </a:endParaRPr>
          </a:p>
          <a:p>
            <a:pPr marL="523875" lvl="1" indent="-171926">
              <a:lnSpc>
                <a:spcPts val="2291"/>
              </a:lnSpc>
              <a:spcBef>
                <a:spcPts val="1725"/>
              </a:spcBef>
              <a:buFont typeface="Arial"/>
              <a:buChar char="•"/>
              <a:tabLst>
                <a:tab pos="524351" algn="l"/>
              </a:tabLst>
            </a:pPr>
            <a:r>
              <a:rPr sz="2025" spc="-15" dirty="0">
                <a:latin typeface="Calibri"/>
                <a:cs typeface="Calibri"/>
              </a:rPr>
              <a:t>Size</a:t>
            </a:r>
            <a:r>
              <a:rPr sz="2025" spc="-11" dirty="0">
                <a:latin typeface="Calibri"/>
                <a:cs typeface="Calibri"/>
              </a:rPr>
              <a:t> </a:t>
            </a:r>
            <a:r>
              <a:rPr sz="2025" spc="-8" dirty="0">
                <a:latin typeface="Calibri"/>
                <a:cs typeface="Calibri"/>
              </a:rPr>
              <a:t>(area/length)</a:t>
            </a:r>
            <a:r>
              <a:rPr sz="2025" spc="-26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and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8" dirty="0">
                <a:latin typeface="Calibri"/>
                <a:cs typeface="Calibri"/>
              </a:rPr>
              <a:t>complexity</a:t>
            </a:r>
            <a:r>
              <a:rPr sz="2025" spc="8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of</a:t>
            </a:r>
            <a:r>
              <a:rPr sz="2025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the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19" dirty="0">
                <a:latin typeface="Calibri"/>
                <a:cs typeface="Calibri"/>
              </a:rPr>
              <a:t>system?</a:t>
            </a:r>
            <a:endParaRPr sz="2025" dirty="0">
              <a:latin typeface="Calibri"/>
              <a:cs typeface="Calibri"/>
            </a:endParaRPr>
          </a:p>
          <a:p>
            <a:pPr marL="866775" lvl="2" indent="-171450">
              <a:lnSpc>
                <a:spcPts val="2021"/>
              </a:lnSpc>
              <a:buFont typeface="Arial"/>
              <a:buChar char="•"/>
              <a:tabLst>
                <a:tab pos="866775" algn="l"/>
              </a:tabLst>
            </a:pPr>
            <a:r>
              <a:rPr spc="-4" dirty="0">
                <a:latin typeface="Calibri"/>
                <a:cs typeface="Calibri"/>
              </a:rPr>
              <a:t>(1,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10,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50,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100,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500,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1000’s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lang="it-IT" spc="-4" dirty="0" err="1">
                <a:latin typeface="Calibri"/>
                <a:cs typeface="Calibri"/>
              </a:rPr>
              <a:t>sq</a:t>
            </a:r>
            <a:r>
              <a:rPr lang="it-IT" spc="-4" dirty="0">
                <a:latin typeface="Calibri"/>
                <a:cs typeface="Calibri"/>
              </a:rPr>
              <a:t>. km</a:t>
            </a:r>
            <a:r>
              <a:rPr spc="-4" dirty="0">
                <a:latin typeface="Calibri"/>
                <a:cs typeface="Calibri"/>
              </a:rPr>
              <a:t>)</a:t>
            </a:r>
            <a:endParaRPr dirty="0">
              <a:latin typeface="Calibri"/>
              <a:cs typeface="Calibri"/>
            </a:endParaRPr>
          </a:p>
          <a:p>
            <a:pPr marL="523875" lvl="1" indent="-171926">
              <a:spcBef>
                <a:spcPts val="1725"/>
              </a:spcBef>
              <a:buFont typeface="Arial"/>
              <a:buChar char="•"/>
              <a:tabLst>
                <a:tab pos="524351" algn="l"/>
                <a:tab pos="2434590" algn="l"/>
              </a:tabLst>
            </a:pPr>
            <a:r>
              <a:rPr sz="2025" spc="-4" dirty="0">
                <a:latin typeface="Calibri"/>
                <a:cs typeface="Calibri"/>
              </a:rPr>
              <a:t>Model</a:t>
            </a:r>
            <a:r>
              <a:rPr sz="2025" spc="8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Objective:	planning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or</a:t>
            </a:r>
            <a:r>
              <a:rPr sz="2025" spc="-8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real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time</a:t>
            </a:r>
            <a:endParaRPr sz="2025" dirty="0">
              <a:latin typeface="Calibri"/>
              <a:cs typeface="Calibri"/>
            </a:endParaRPr>
          </a:p>
          <a:p>
            <a:pPr marL="523875" lvl="1" indent="-171926">
              <a:lnSpc>
                <a:spcPts val="2295"/>
              </a:lnSpc>
              <a:spcBef>
                <a:spcPts val="1718"/>
              </a:spcBef>
              <a:buFont typeface="Arial"/>
              <a:buChar char="•"/>
              <a:tabLst>
                <a:tab pos="524351" algn="l"/>
              </a:tabLst>
            </a:pPr>
            <a:r>
              <a:rPr sz="2025" spc="-19" dirty="0">
                <a:latin typeface="Calibri"/>
                <a:cs typeface="Calibri"/>
              </a:rPr>
              <a:t>Events</a:t>
            </a:r>
            <a:r>
              <a:rPr sz="2025" spc="-26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will</a:t>
            </a:r>
            <a:r>
              <a:rPr sz="2025" spc="8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be</a:t>
            </a:r>
            <a:r>
              <a:rPr sz="2025" spc="-15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analyzed?</a:t>
            </a:r>
            <a:endParaRPr sz="2025" dirty="0">
              <a:latin typeface="Calibri"/>
              <a:cs typeface="Calibri"/>
            </a:endParaRPr>
          </a:p>
          <a:p>
            <a:pPr marL="866775" lvl="2" indent="-171450">
              <a:lnSpc>
                <a:spcPts val="2025"/>
              </a:lnSpc>
              <a:buFont typeface="Arial"/>
              <a:buChar char="•"/>
              <a:tabLst>
                <a:tab pos="866775" algn="l"/>
              </a:tabLst>
            </a:pPr>
            <a:r>
              <a:rPr spc="-4" dirty="0">
                <a:latin typeface="Calibri"/>
                <a:cs typeface="Calibri"/>
              </a:rPr>
              <a:t>(2yr-500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spc="-56" dirty="0" err="1">
                <a:latin typeface="Calibri"/>
                <a:cs typeface="Calibri"/>
              </a:rPr>
              <a:t>yr</a:t>
            </a:r>
            <a:r>
              <a:rPr dirty="0">
                <a:latin typeface="Calibri"/>
                <a:cs typeface="Calibri"/>
              </a:rPr>
              <a:t>)</a:t>
            </a:r>
          </a:p>
          <a:p>
            <a:pPr marL="523875" lvl="1" indent="-171926">
              <a:lnSpc>
                <a:spcPts val="2295"/>
              </a:lnSpc>
              <a:spcBef>
                <a:spcPts val="1721"/>
              </a:spcBef>
              <a:buFont typeface="Arial"/>
              <a:buChar char="•"/>
              <a:tabLst>
                <a:tab pos="524351" algn="l"/>
              </a:tabLst>
            </a:pPr>
            <a:r>
              <a:rPr sz="2025" spc="-19" dirty="0">
                <a:latin typeface="Calibri"/>
                <a:cs typeface="Calibri"/>
              </a:rPr>
              <a:t>Typical</a:t>
            </a:r>
            <a:r>
              <a:rPr sz="2025" spc="-11" dirty="0">
                <a:latin typeface="Calibri"/>
                <a:cs typeface="Calibri"/>
              </a:rPr>
              <a:t> duration</a:t>
            </a:r>
            <a:r>
              <a:rPr sz="2025" spc="-19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of </a:t>
            </a:r>
            <a:r>
              <a:rPr sz="2025" dirty="0">
                <a:latin typeface="Calibri"/>
                <a:cs typeface="Calibri"/>
              </a:rPr>
              <a:t>a</a:t>
            </a:r>
            <a:r>
              <a:rPr sz="2025" spc="-11" dirty="0">
                <a:latin typeface="Calibri"/>
                <a:cs typeface="Calibri"/>
              </a:rPr>
              <a:t> </a:t>
            </a:r>
            <a:r>
              <a:rPr sz="2025" spc="-4" dirty="0">
                <a:latin typeface="Calibri"/>
                <a:cs typeface="Calibri"/>
              </a:rPr>
              <a:t>flood</a:t>
            </a:r>
            <a:r>
              <a:rPr sz="2025" dirty="0">
                <a:latin typeface="Calibri"/>
                <a:cs typeface="Calibri"/>
              </a:rPr>
              <a:t> </a:t>
            </a:r>
            <a:r>
              <a:rPr sz="2025" spc="-11" dirty="0">
                <a:latin typeface="Calibri"/>
                <a:cs typeface="Calibri"/>
              </a:rPr>
              <a:t>event?</a:t>
            </a:r>
            <a:endParaRPr sz="2025" dirty="0">
              <a:latin typeface="Calibri"/>
              <a:cs typeface="Calibri"/>
            </a:endParaRPr>
          </a:p>
          <a:p>
            <a:pPr marL="866775" lvl="2" indent="-171450">
              <a:lnSpc>
                <a:spcPts val="2025"/>
              </a:lnSpc>
              <a:buFont typeface="Arial"/>
              <a:buChar char="•"/>
              <a:tabLst>
                <a:tab pos="866775" algn="l"/>
              </a:tabLst>
            </a:pPr>
            <a:r>
              <a:rPr spc="-4" dirty="0">
                <a:latin typeface="Calibri"/>
                <a:cs typeface="Calibri"/>
              </a:rPr>
              <a:t>(1/2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41" dirty="0">
                <a:latin typeface="Calibri"/>
                <a:cs typeface="Calibri"/>
              </a:rPr>
              <a:t>day,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1-3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days,</a:t>
            </a:r>
            <a:r>
              <a:rPr spc="-8" dirty="0">
                <a:latin typeface="Calibri"/>
                <a:cs typeface="Calibri"/>
              </a:rPr>
              <a:t> week,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month,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or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6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months)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0166" y="1372832"/>
            <a:ext cx="7469981" cy="451086"/>
          </a:xfrm>
          <a:prstGeom prst="rect">
            <a:avLst/>
          </a:prstGeom>
        </p:spPr>
        <p:txBody>
          <a:bodyPr vert="horz" wrap="square" lIns="0" tIns="35243" rIns="0" bIns="0" rtlCol="0">
            <a:spAutoFit/>
          </a:bodyPr>
          <a:lstStyle/>
          <a:p>
            <a:pPr marL="180975" indent="-171450">
              <a:spcBef>
                <a:spcPts val="278"/>
              </a:spcBef>
              <a:buFont typeface="Arial"/>
              <a:buChar char="•"/>
              <a:tabLst>
                <a:tab pos="180975" algn="l"/>
              </a:tabLst>
            </a:pPr>
            <a:r>
              <a:rPr sz="2700" spc="-4" dirty="0">
                <a:latin typeface="Calibri"/>
                <a:cs typeface="Calibri"/>
              </a:rPr>
              <a:t>Unique</a:t>
            </a:r>
            <a:r>
              <a:rPr sz="2700" spc="-19" dirty="0">
                <a:latin typeface="Calibri"/>
                <a:cs typeface="Calibri"/>
              </a:rPr>
              <a:t> </a:t>
            </a:r>
            <a:r>
              <a:rPr sz="2700" spc="-4" dirty="0">
                <a:latin typeface="Calibri"/>
                <a:cs typeface="Calibri"/>
              </a:rPr>
              <a:t>aspects</a:t>
            </a:r>
            <a:r>
              <a:rPr sz="2700" spc="-11" dirty="0">
                <a:latin typeface="Calibri"/>
                <a:cs typeface="Calibri"/>
              </a:rPr>
              <a:t> </a:t>
            </a:r>
            <a:r>
              <a:rPr sz="2700" spc="-4" dirty="0">
                <a:latin typeface="Calibri"/>
                <a:cs typeface="Calibri"/>
              </a:rPr>
              <a:t>of</a:t>
            </a:r>
            <a:r>
              <a:rPr sz="2700" dirty="0">
                <a:latin typeface="Calibri"/>
                <a:cs typeface="Calibri"/>
              </a:rPr>
              <a:t> 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3" dirty="0">
                <a:latin typeface="Calibri"/>
                <a:cs typeface="Calibri"/>
              </a:rPr>
              <a:t>system</a:t>
            </a:r>
            <a:r>
              <a:rPr sz="2700" spc="-19" dirty="0">
                <a:latin typeface="Calibri"/>
                <a:cs typeface="Calibri"/>
              </a:rPr>
              <a:t> </a:t>
            </a:r>
            <a:r>
              <a:rPr sz="2700" spc="-8" dirty="0">
                <a:latin typeface="Calibri"/>
                <a:cs typeface="Calibri"/>
              </a:rPr>
              <a:t>that</a:t>
            </a:r>
            <a:r>
              <a:rPr sz="2700" spc="-11" dirty="0">
                <a:latin typeface="Calibri"/>
                <a:cs typeface="Calibri"/>
              </a:rPr>
              <a:t> </a:t>
            </a:r>
            <a:r>
              <a:rPr sz="2700" spc="-23" dirty="0">
                <a:latin typeface="Calibri"/>
                <a:cs typeface="Calibri"/>
              </a:rPr>
              <a:t>affect</a:t>
            </a:r>
            <a:r>
              <a:rPr sz="2700" dirty="0">
                <a:latin typeface="Calibri"/>
                <a:cs typeface="Calibri"/>
              </a:rPr>
              <a:t> 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choice</a:t>
            </a:r>
            <a:r>
              <a:rPr sz="2700" spc="-1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94402"/>
            <a:ext cx="9085943" cy="800059"/>
          </a:xfrm>
          <a:prstGeom prst="rect">
            <a:avLst/>
          </a:prstGeom>
        </p:spPr>
        <p:txBody>
          <a:bodyPr vert="horz" wrap="square" lIns="0" tIns="55721" rIns="0" bIns="0" rtlCol="0" anchor="ctr">
            <a:spAutoFit/>
          </a:bodyPr>
          <a:lstStyle/>
          <a:p>
            <a:pPr marL="689610" marR="684848" algn="ctr">
              <a:lnSpc>
                <a:spcPts val="2918"/>
              </a:lnSpc>
              <a:spcBef>
                <a:spcPts val="439"/>
              </a:spcBef>
            </a:pPr>
            <a:r>
              <a:rPr sz="2700" spc="-30" dirty="0"/>
              <a:t>Unsteady</a:t>
            </a:r>
            <a:r>
              <a:rPr sz="2700" spc="-49" dirty="0"/>
              <a:t> </a:t>
            </a:r>
            <a:r>
              <a:rPr sz="2700" spc="-19" dirty="0"/>
              <a:t>Flow</a:t>
            </a:r>
            <a:r>
              <a:rPr sz="2700" spc="-68" dirty="0"/>
              <a:t> </a:t>
            </a:r>
            <a:r>
              <a:rPr sz="2700" spc="-30" dirty="0"/>
              <a:t>Routing</a:t>
            </a:r>
            <a:r>
              <a:rPr sz="2700" spc="-60" dirty="0"/>
              <a:t> </a:t>
            </a:r>
            <a:r>
              <a:rPr sz="2700" spc="-11" dirty="0"/>
              <a:t>(1D</a:t>
            </a:r>
            <a:r>
              <a:rPr sz="2700" spc="-53" dirty="0"/>
              <a:t> </a:t>
            </a:r>
            <a:r>
              <a:rPr sz="2700" spc="-11" dirty="0"/>
              <a:t>or</a:t>
            </a:r>
            <a:r>
              <a:rPr sz="2700" spc="-49" dirty="0"/>
              <a:t> </a:t>
            </a:r>
            <a:r>
              <a:rPr sz="2700" spc="-26" dirty="0"/>
              <a:t>2D) </a:t>
            </a:r>
            <a:r>
              <a:rPr sz="2700" spc="-600" dirty="0"/>
              <a:t> </a:t>
            </a:r>
            <a:r>
              <a:rPr sz="2700" spc="-34" dirty="0"/>
              <a:t>vs</a:t>
            </a:r>
            <a:endParaRPr sz="2700" dirty="0"/>
          </a:p>
          <a:p>
            <a:pPr algn="ctr">
              <a:lnSpc>
                <a:spcPts val="2872"/>
              </a:lnSpc>
            </a:pPr>
            <a:r>
              <a:rPr sz="2700" spc="-30" dirty="0"/>
              <a:t>Hydrologic</a:t>
            </a:r>
            <a:r>
              <a:rPr sz="2700" spc="-49" dirty="0"/>
              <a:t> </a:t>
            </a:r>
            <a:r>
              <a:rPr sz="2700" spc="-23" dirty="0"/>
              <a:t>Routing/Steady</a:t>
            </a:r>
            <a:r>
              <a:rPr sz="2700" spc="-41" dirty="0"/>
              <a:t> </a:t>
            </a:r>
            <a:r>
              <a:rPr sz="2700" spc="-19" dirty="0"/>
              <a:t>Flow</a:t>
            </a:r>
            <a:r>
              <a:rPr sz="2700" spc="-64" dirty="0"/>
              <a:t> </a:t>
            </a:r>
            <a:r>
              <a:rPr sz="2700" spc="-34" dirty="0"/>
              <a:t>Hydraulics?</a:t>
            </a:r>
            <a:endParaRPr sz="27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94B8199-D1DF-DBA3-7A28-2ED49ACA2B10}"/>
              </a:ext>
            </a:extLst>
          </p:cNvPr>
          <p:cNvSpPr txBox="1"/>
          <p:nvPr/>
        </p:nvSpPr>
        <p:spPr>
          <a:xfrm>
            <a:off x="773429" y="2035764"/>
            <a:ext cx="7432358" cy="2337018"/>
          </a:xfrm>
          <a:prstGeom prst="rect">
            <a:avLst/>
          </a:prstGeom>
        </p:spPr>
        <p:txBody>
          <a:bodyPr vert="horz" wrap="square" lIns="0" tIns="46196" rIns="0" bIns="0" rtlCol="0">
            <a:spAutoFit/>
          </a:bodyPr>
          <a:lstStyle/>
          <a:p>
            <a:pPr marL="180499" marR="3810" indent="-171450">
              <a:lnSpc>
                <a:spcPts val="2265"/>
              </a:lnSpc>
              <a:spcBef>
                <a:spcPts val="363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11" dirty="0">
                <a:latin typeface="Calibri"/>
                <a:cs typeface="Calibri"/>
              </a:rPr>
              <a:t>Availability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and</a:t>
            </a:r>
            <a:r>
              <a:rPr sz="2100" spc="-8" dirty="0">
                <a:latin typeface="Calibri"/>
                <a:cs typeface="Calibri"/>
              </a:rPr>
              <a:t> accuracy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of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the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terrain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data</a:t>
            </a:r>
            <a:r>
              <a:rPr sz="2100" spc="-4" dirty="0">
                <a:latin typeface="Calibri"/>
                <a:cs typeface="Calibri"/>
              </a:rPr>
              <a:t> and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hydraulic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structure </a:t>
            </a:r>
            <a:r>
              <a:rPr sz="2100" spc="-461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information?</a:t>
            </a:r>
            <a:endParaRPr sz="2100" dirty="0">
              <a:latin typeface="Calibri"/>
              <a:cs typeface="Calibri"/>
            </a:endParaRPr>
          </a:p>
          <a:p>
            <a:pPr marL="180499" indent="-171450">
              <a:spcBef>
                <a:spcPts val="469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8" dirty="0">
                <a:latin typeface="Calibri"/>
                <a:cs typeface="Calibri"/>
              </a:rPr>
              <a:t>Accuracy</a:t>
            </a:r>
            <a:r>
              <a:rPr sz="2100" spc="11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of the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hydrology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used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to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drive</a:t>
            </a:r>
            <a:r>
              <a:rPr sz="2100" spc="-4" dirty="0">
                <a:latin typeface="Calibri"/>
                <a:cs typeface="Calibri"/>
              </a:rPr>
              <a:t> the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models?</a:t>
            </a:r>
            <a:endParaRPr sz="2100" dirty="0">
              <a:latin typeface="Calibri"/>
              <a:cs typeface="Calibri"/>
            </a:endParaRPr>
          </a:p>
          <a:p>
            <a:pPr marL="180499" indent="-171450">
              <a:spcBef>
                <a:spcPts val="495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4" dirty="0">
                <a:latin typeface="Calibri"/>
                <a:cs typeface="Calibri"/>
              </a:rPr>
              <a:t>Model </a:t>
            </a:r>
            <a:r>
              <a:rPr sz="2100" spc="-8" dirty="0">
                <a:latin typeface="Calibri"/>
                <a:cs typeface="Calibri"/>
              </a:rPr>
              <a:t>objectives</a:t>
            </a:r>
            <a:r>
              <a:rPr sz="2100" dirty="0">
                <a:latin typeface="Calibri"/>
                <a:cs typeface="Calibri"/>
              </a:rPr>
              <a:t> –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results?</a:t>
            </a:r>
            <a:endParaRPr sz="2100" dirty="0">
              <a:latin typeface="Calibri"/>
              <a:cs typeface="Calibri"/>
            </a:endParaRPr>
          </a:p>
          <a:p>
            <a:pPr marL="523399" marR="204311" lvl="1" indent="-171450">
              <a:lnSpc>
                <a:spcPts val="1943"/>
              </a:lnSpc>
              <a:spcBef>
                <a:spcPts val="424"/>
              </a:spcBef>
              <a:buFont typeface="Arial"/>
              <a:buChar char="•"/>
              <a:tabLst>
                <a:tab pos="523875" algn="l"/>
              </a:tabLst>
            </a:pPr>
            <a:r>
              <a:rPr spc="-23" dirty="0">
                <a:latin typeface="Calibri"/>
                <a:cs typeface="Calibri"/>
              </a:rPr>
              <a:t>Water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surface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elevations,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water</a:t>
            </a:r>
            <a:r>
              <a:rPr spc="-4" dirty="0">
                <a:latin typeface="Calibri"/>
                <a:cs typeface="Calibri"/>
              </a:rPr>
              <a:t> depths,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arrival</a:t>
            </a:r>
            <a:r>
              <a:rPr spc="-4" dirty="0">
                <a:latin typeface="Calibri"/>
                <a:cs typeface="Calibri"/>
              </a:rPr>
              <a:t> times, </a:t>
            </a:r>
            <a:r>
              <a:rPr spc="-19" dirty="0">
                <a:latin typeface="Calibri"/>
                <a:cs typeface="Calibri"/>
              </a:rPr>
              <a:t>average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velocities,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detailed</a:t>
            </a:r>
            <a:r>
              <a:rPr spc="-4" dirty="0">
                <a:latin typeface="Calibri"/>
                <a:cs typeface="Calibri"/>
              </a:rPr>
              <a:t> velocities</a:t>
            </a:r>
            <a:r>
              <a:rPr spc="-11" dirty="0">
                <a:latin typeface="Calibri"/>
                <a:cs typeface="Calibri"/>
              </a:rPr>
              <a:t> at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specific</a:t>
            </a:r>
            <a:r>
              <a:rPr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locations,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etc…</a:t>
            </a:r>
            <a:endParaRPr dirty="0">
              <a:latin typeface="Calibri"/>
              <a:cs typeface="Calibri"/>
            </a:endParaRPr>
          </a:p>
          <a:p>
            <a:pPr marL="180499" indent="-171450">
              <a:spcBef>
                <a:spcPts val="454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11" dirty="0">
                <a:latin typeface="Calibri"/>
                <a:cs typeface="Calibri"/>
              </a:rPr>
              <a:t>Required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accuracy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of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the </a:t>
            </a:r>
            <a:r>
              <a:rPr sz="2100" spc="-8" dirty="0">
                <a:latin typeface="Calibri"/>
                <a:cs typeface="Calibri"/>
              </a:rPr>
              <a:t>results?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2771" y="289583"/>
            <a:ext cx="7134588" cy="516969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300" spc="-4" dirty="0"/>
              <a:t>1D</a:t>
            </a:r>
            <a:r>
              <a:rPr sz="3300" spc="-8" dirty="0"/>
              <a:t> </a:t>
            </a:r>
            <a:r>
              <a:rPr sz="3300" spc="-11" dirty="0"/>
              <a:t>vs.</a:t>
            </a:r>
            <a:r>
              <a:rPr sz="3300" spc="8" dirty="0"/>
              <a:t> </a:t>
            </a:r>
            <a:r>
              <a:rPr sz="3300" spc="-4" dirty="0"/>
              <a:t>2D</a:t>
            </a:r>
            <a:r>
              <a:rPr sz="3300" spc="-8" dirty="0"/>
              <a:t> </a:t>
            </a:r>
            <a:r>
              <a:rPr sz="3300" spc="-15" dirty="0"/>
              <a:t>Hydraulic</a:t>
            </a:r>
            <a:r>
              <a:rPr sz="3300" spc="11" dirty="0"/>
              <a:t> </a:t>
            </a:r>
            <a:r>
              <a:rPr sz="3300" spc="-8" dirty="0"/>
              <a:t>Modeling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433485" y="1234336"/>
            <a:ext cx="8133874" cy="387349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0499" indent="-171450">
              <a:spcBef>
                <a:spcPts val="285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4" dirty="0">
                <a:latin typeface="Calibri"/>
                <a:cs typeface="Calibri"/>
              </a:rPr>
              <a:t>Some </a:t>
            </a:r>
            <a:r>
              <a:rPr sz="2100" spc="-8" dirty="0">
                <a:latin typeface="Calibri"/>
                <a:cs typeface="Calibri"/>
              </a:rPr>
              <a:t>areas </a:t>
            </a:r>
            <a:r>
              <a:rPr sz="2100" spc="-4" dirty="0">
                <a:latin typeface="Calibri"/>
                <a:cs typeface="Calibri"/>
              </a:rPr>
              <a:t>in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which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2D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models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often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outperform </a:t>
            </a:r>
            <a:r>
              <a:rPr sz="2100" dirty="0">
                <a:latin typeface="Calibri"/>
                <a:cs typeface="Calibri"/>
              </a:rPr>
              <a:t>1D</a:t>
            </a:r>
            <a:r>
              <a:rPr sz="2100" spc="11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models:</a:t>
            </a:r>
            <a:endParaRPr sz="2100" dirty="0">
              <a:latin typeface="Calibri"/>
              <a:cs typeface="Calibri"/>
            </a:endParaRPr>
          </a:p>
          <a:p>
            <a:pPr marL="523875" marR="3810" lvl="1" indent="-171926">
              <a:lnSpc>
                <a:spcPts val="1943"/>
              </a:lnSpc>
              <a:spcBef>
                <a:spcPts val="424"/>
              </a:spcBef>
              <a:buFont typeface="Arial"/>
              <a:buChar char="•"/>
              <a:tabLst>
                <a:tab pos="523875" algn="l"/>
              </a:tabLst>
            </a:pPr>
            <a:r>
              <a:rPr spc="-4" dirty="0">
                <a:latin typeface="Calibri"/>
                <a:cs typeface="Calibri"/>
              </a:rPr>
              <a:t>When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modeling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area</a:t>
            </a:r>
            <a:r>
              <a:rPr spc="-4" dirty="0">
                <a:latin typeface="Calibri"/>
                <a:cs typeface="Calibri"/>
              </a:rPr>
              <a:t> behind</a:t>
            </a:r>
            <a:r>
              <a:rPr dirty="0">
                <a:latin typeface="Calibri"/>
                <a:cs typeface="Calibri"/>
              </a:rPr>
              <a:t> a </a:t>
            </a:r>
            <a:r>
              <a:rPr spc="-8" dirty="0">
                <a:latin typeface="Calibri"/>
                <a:cs typeface="Calibri"/>
              </a:rPr>
              <a:t>leveed</a:t>
            </a:r>
            <a:r>
              <a:rPr spc="1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system,</a:t>
            </a:r>
            <a:r>
              <a:rPr spc="-4" dirty="0">
                <a:latin typeface="Calibri"/>
                <a:cs typeface="Calibri"/>
              </a:rPr>
              <a:t> and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levee</a:t>
            </a:r>
            <a:r>
              <a:rPr spc="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be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overtopped </a:t>
            </a:r>
            <a:r>
              <a:rPr spc="-39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and/or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breached,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water</a:t>
            </a:r>
            <a:r>
              <a:rPr spc="-8" dirty="0">
                <a:latin typeface="Calibri"/>
                <a:cs typeface="Calibri"/>
              </a:rPr>
              <a:t> can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many </a:t>
            </a:r>
            <a:r>
              <a:rPr spc="-8" dirty="0">
                <a:latin typeface="Calibri"/>
                <a:cs typeface="Calibri"/>
              </a:rPr>
              <a:t>directions.</a:t>
            </a:r>
            <a:endParaRPr dirty="0">
              <a:latin typeface="Calibri"/>
              <a:cs typeface="Calibri"/>
            </a:endParaRPr>
          </a:p>
          <a:p>
            <a:pPr marL="523875" lvl="1" indent="-171926">
              <a:spcBef>
                <a:spcPts val="131"/>
              </a:spcBef>
              <a:buFont typeface="Arial"/>
              <a:buChar char="•"/>
              <a:tabLst>
                <a:tab pos="524351" algn="l"/>
              </a:tabLst>
            </a:pPr>
            <a:r>
              <a:rPr spc="-15" dirty="0">
                <a:latin typeface="Calibri"/>
                <a:cs typeface="Calibri"/>
              </a:rPr>
              <a:t>Bays </a:t>
            </a:r>
            <a:r>
              <a:rPr spc="-4" dirty="0">
                <a:latin typeface="Calibri"/>
                <a:cs typeface="Calibri"/>
              </a:rPr>
              <a:t>and </a:t>
            </a:r>
            <a:r>
              <a:rPr spc="-8" dirty="0">
                <a:latin typeface="Calibri"/>
                <a:cs typeface="Calibri"/>
              </a:rPr>
              <a:t>Estuaries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" dirty="0">
                <a:latin typeface="Calibri"/>
                <a:cs typeface="Calibri"/>
              </a:rPr>
              <a:t> which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2D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velocities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are</a:t>
            </a:r>
            <a:r>
              <a:rPr spc="-4" dirty="0">
                <a:latin typeface="Calibri"/>
                <a:cs typeface="Calibri"/>
              </a:rPr>
              <a:t> needed</a:t>
            </a:r>
            <a:endParaRPr dirty="0">
              <a:latin typeface="Calibri"/>
              <a:cs typeface="Calibri"/>
            </a:endParaRPr>
          </a:p>
          <a:p>
            <a:pPr marL="523875" lvl="1" indent="-171926">
              <a:spcBef>
                <a:spcPts val="158"/>
              </a:spcBef>
              <a:buFont typeface="Arial"/>
              <a:buChar char="•"/>
              <a:tabLst>
                <a:tab pos="524351" algn="l"/>
              </a:tabLst>
            </a:pPr>
            <a:r>
              <a:rPr spc="-4" dirty="0">
                <a:latin typeface="Calibri"/>
                <a:cs typeface="Calibri"/>
              </a:rPr>
              <a:t>Alluvial</a:t>
            </a:r>
            <a:r>
              <a:rPr spc="-15" dirty="0">
                <a:latin typeface="Calibri"/>
                <a:cs typeface="Calibri"/>
              </a:rPr>
              <a:t> Fans</a:t>
            </a:r>
            <a:endParaRPr dirty="0">
              <a:latin typeface="Calibri"/>
              <a:cs typeface="Calibri"/>
            </a:endParaRPr>
          </a:p>
          <a:p>
            <a:pPr marL="523875" marR="298609" lvl="1" indent="-171450">
              <a:lnSpc>
                <a:spcPts val="1943"/>
              </a:lnSpc>
              <a:spcBef>
                <a:spcPts val="409"/>
              </a:spcBef>
              <a:buFont typeface="Arial"/>
              <a:buChar char="•"/>
              <a:tabLst>
                <a:tab pos="524351" algn="l"/>
              </a:tabLst>
            </a:pPr>
            <a:r>
              <a:rPr spc="-4" dirty="0">
                <a:latin typeface="Calibri"/>
                <a:cs typeface="Calibri"/>
              </a:rPr>
              <a:t>Flow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around</a:t>
            </a:r>
            <a:r>
              <a:rPr spc="-4" dirty="0">
                <a:latin typeface="Calibri"/>
                <a:cs typeface="Calibri"/>
              </a:rPr>
              <a:t> abrupt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bends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which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8" dirty="0">
                <a:latin typeface="Calibri"/>
                <a:cs typeface="Calibri"/>
              </a:rPr>
              <a:t> significant amount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of super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elevation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occur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during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event.</a:t>
            </a:r>
            <a:endParaRPr dirty="0">
              <a:latin typeface="Calibri"/>
              <a:cs typeface="Calibri"/>
            </a:endParaRPr>
          </a:p>
          <a:p>
            <a:pPr marL="523875" marR="403384" lvl="1" indent="-171450">
              <a:lnSpc>
                <a:spcPts val="1943"/>
              </a:lnSpc>
              <a:spcBef>
                <a:spcPts val="375"/>
              </a:spcBef>
              <a:buFont typeface="Arial"/>
              <a:buChar char="•"/>
              <a:tabLst>
                <a:tab pos="524351" algn="l"/>
              </a:tabLst>
            </a:pPr>
            <a:r>
              <a:rPr spc="-23" dirty="0">
                <a:latin typeface="Calibri"/>
                <a:cs typeface="Calibri"/>
              </a:rPr>
              <a:t>Very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wide and </a:t>
            </a:r>
            <a:r>
              <a:rPr spc="-8" dirty="0">
                <a:latin typeface="Calibri"/>
                <a:cs typeface="Calibri"/>
              </a:rPr>
              <a:t>flat</a:t>
            </a:r>
            <a:r>
              <a:rPr spc="-4" dirty="0">
                <a:latin typeface="Calibri"/>
                <a:cs typeface="Calibri"/>
              </a:rPr>
              <a:t> flood plains,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such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that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when</a:t>
            </a:r>
            <a:r>
              <a:rPr dirty="0">
                <a:latin typeface="Calibri"/>
                <a:cs typeface="Calibri"/>
              </a:rPr>
              <a:t> the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flows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goes </a:t>
            </a:r>
            <a:r>
              <a:rPr spc="-4" dirty="0">
                <a:latin typeface="Calibri"/>
                <a:cs typeface="Calibri"/>
              </a:rPr>
              <a:t>out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into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overbank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area,</a:t>
            </a:r>
            <a:r>
              <a:rPr dirty="0">
                <a:latin typeface="Calibri"/>
                <a:cs typeface="Calibri"/>
              </a:rPr>
              <a:t> the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water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23" dirty="0">
                <a:latin typeface="Calibri"/>
                <a:cs typeface="Calibri"/>
              </a:rPr>
              <a:t>take</a:t>
            </a:r>
            <a:r>
              <a:rPr spc="-4" dirty="0">
                <a:latin typeface="Calibri"/>
                <a:cs typeface="Calibri"/>
              </a:rPr>
              <a:t> multiple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flow </a:t>
            </a:r>
            <a:r>
              <a:rPr spc="-8" dirty="0">
                <a:latin typeface="Calibri"/>
                <a:cs typeface="Calibri"/>
              </a:rPr>
              <a:t>paths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and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have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varying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water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surface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elevations</a:t>
            </a:r>
            <a:endParaRPr dirty="0">
              <a:latin typeface="Calibri"/>
              <a:cs typeface="Calibri"/>
            </a:endParaRPr>
          </a:p>
          <a:p>
            <a:pPr marL="523875" marR="230981" lvl="1" indent="-171450">
              <a:lnSpc>
                <a:spcPts val="1943"/>
              </a:lnSpc>
              <a:spcBef>
                <a:spcPts val="382"/>
              </a:spcBef>
              <a:buFont typeface="Arial"/>
              <a:buChar char="•"/>
              <a:tabLst>
                <a:tab pos="524351" algn="l"/>
              </a:tabLst>
            </a:pPr>
            <a:r>
              <a:rPr spc="-8" dirty="0">
                <a:latin typeface="Calibri"/>
                <a:cs typeface="Calibri"/>
              </a:rPr>
              <a:t>Applications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where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very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important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to</a:t>
            </a:r>
            <a:r>
              <a:rPr spc="-8" dirty="0">
                <a:latin typeface="Calibri"/>
                <a:cs typeface="Calibri"/>
              </a:rPr>
              <a:t> obtain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detailed</a:t>
            </a:r>
            <a:r>
              <a:rPr spc="-4" dirty="0">
                <a:latin typeface="Calibri"/>
                <a:cs typeface="Calibri"/>
              </a:rPr>
              <a:t> velocities </a:t>
            </a:r>
            <a:r>
              <a:rPr spc="-15" dirty="0">
                <a:latin typeface="Calibri"/>
                <a:cs typeface="Calibri"/>
              </a:rPr>
              <a:t>for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hydraulics </a:t>
            </a:r>
            <a:r>
              <a:rPr spc="-4" dirty="0">
                <a:latin typeface="Calibri"/>
                <a:cs typeface="Calibri"/>
              </a:rPr>
              <a:t>of flow </a:t>
            </a:r>
            <a:r>
              <a:rPr dirty="0">
                <a:latin typeface="Calibri"/>
                <a:cs typeface="Calibri"/>
              </a:rPr>
              <a:t>in a </a:t>
            </a:r>
            <a:r>
              <a:rPr spc="-4" dirty="0">
                <a:latin typeface="Calibri"/>
                <a:cs typeface="Calibri"/>
              </a:rPr>
              <a:t>channel, floodplain, or </a:t>
            </a:r>
            <a:r>
              <a:rPr spc="-8" dirty="0">
                <a:latin typeface="Calibri"/>
                <a:cs typeface="Calibri"/>
              </a:rPr>
              <a:t>around </a:t>
            </a:r>
            <a:r>
              <a:rPr dirty="0">
                <a:latin typeface="Calibri"/>
                <a:cs typeface="Calibri"/>
              </a:rPr>
              <a:t>an </a:t>
            </a:r>
            <a:r>
              <a:rPr spc="-4" dirty="0">
                <a:latin typeface="Calibri"/>
                <a:cs typeface="Calibri"/>
              </a:rPr>
              <a:t>object, such </a:t>
            </a:r>
            <a:r>
              <a:rPr dirty="0">
                <a:latin typeface="Calibri"/>
                <a:cs typeface="Calibri"/>
              </a:rPr>
              <a:t>as a </a:t>
            </a:r>
            <a:r>
              <a:rPr spc="-8" dirty="0">
                <a:latin typeface="Calibri"/>
                <a:cs typeface="Calibri"/>
              </a:rPr>
              <a:t>bridge </a:t>
            </a:r>
            <a:r>
              <a:rPr spc="-39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abutment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or</a:t>
            </a:r>
            <a:r>
              <a:rPr spc="-8" dirty="0">
                <a:latin typeface="Calibri"/>
                <a:cs typeface="Calibri"/>
              </a:rPr>
              <a:t> bridge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piers,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etc…</a:t>
            </a:r>
            <a:endParaRPr dirty="0">
              <a:latin typeface="Calibri"/>
              <a:cs typeface="Calibri"/>
            </a:endParaRPr>
          </a:p>
          <a:p>
            <a:pPr marR="972979" algn="r">
              <a:spcBef>
                <a:spcPts val="1073"/>
              </a:spcBef>
            </a:pPr>
            <a:r>
              <a:rPr sz="900" spc="-4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955" y="35668"/>
            <a:ext cx="4947761" cy="1024800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300" spc="-4" dirty="0"/>
              <a:t>1D</a:t>
            </a:r>
            <a:r>
              <a:rPr sz="3300" spc="-8" dirty="0"/>
              <a:t> </a:t>
            </a:r>
            <a:r>
              <a:rPr sz="3300" spc="-11" dirty="0"/>
              <a:t>vs.</a:t>
            </a:r>
            <a:r>
              <a:rPr sz="3300" spc="8" dirty="0"/>
              <a:t> </a:t>
            </a:r>
            <a:r>
              <a:rPr sz="3300" spc="-4" dirty="0"/>
              <a:t>2D</a:t>
            </a:r>
            <a:r>
              <a:rPr sz="3300" spc="-8" dirty="0"/>
              <a:t> </a:t>
            </a:r>
            <a:r>
              <a:rPr sz="3300" spc="-15" dirty="0"/>
              <a:t>Hydraulic</a:t>
            </a:r>
            <a:r>
              <a:rPr sz="3300" spc="11" dirty="0"/>
              <a:t> </a:t>
            </a:r>
            <a:r>
              <a:rPr sz="3300" spc="-8" dirty="0"/>
              <a:t>Modeling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226218" y="1527623"/>
            <a:ext cx="8691563" cy="2555187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0499" indent="-171450">
              <a:spcBef>
                <a:spcPts val="285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4" dirty="0">
                <a:latin typeface="Calibri"/>
                <a:cs typeface="Calibri"/>
              </a:rPr>
              <a:t>Some </a:t>
            </a:r>
            <a:r>
              <a:rPr sz="2100" spc="-8" dirty="0">
                <a:latin typeface="Calibri"/>
                <a:cs typeface="Calibri"/>
              </a:rPr>
              <a:t>applications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where</a:t>
            </a:r>
            <a:r>
              <a:rPr sz="2100" dirty="0">
                <a:latin typeface="Calibri"/>
                <a:cs typeface="Calibri"/>
              </a:rPr>
              <a:t> 1D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results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will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be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similar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to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2D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results:</a:t>
            </a:r>
            <a:endParaRPr sz="2100" dirty="0">
              <a:latin typeface="Calibri"/>
              <a:cs typeface="Calibri"/>
            </a:endParaRPr>
          </a:p>
          <a:p>
            <a:pPr marL="523875" marR="559118" lvl="1" indent="-171450">
              <a:lnSpc>
                <a:spcPts val="1943"/>
              </a:lnSpc>
              <a:spcBef>
                <a:spcPts val="424"/>
              </a:spcBef>
              <a:buFont typeface="Arial"/>
              <a:buChar char="•"/>
              <a:tabLst>
                <a:tab pos="523875" algn="l"/>
              </a:tabLst>
            </a:pPr>
            <a:r>
              <a:rPr spc="-11" dirty="0">
                <a:latin typeface="Calibri"/>
                <a:cs typeface="Calibri"/>
              </a:rPr>
              <a:t>Rivers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and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floodplains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" dirty="0">
                <a:latin typeface="Calibri"/>
                <a:cs typeface="Calibri"/>
              </a:rPr>
              <a:t> which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4" dirty="0">
                <a:latin typeface="Calibri"/>
                <a:cs typeface="Calibri"/>
              </a:rPr>
              <a:t>dominant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flow</a:t>
            </a:r>
            <a:r>
              <a:rPr spc="-8" dirty="0">
                <a:latin typeface="Calibri"/>
                <a:cs typeface="Calibri"/>
              </a:rPr>
              <a:t> directions</a:t>
            </a:r>
            <a:r>
              <a:rPr spc="-4" dirty="0">
                <a:latin typeface="Calibri"/>
                <a:cs typeface="Calibri"/>
              </a:rPr>
              <a:t> and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forces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follow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general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river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flow</a:t>
            </a:r>
            <a:r>
              <a:rPr spc="-8" dirty="0">
                <a:latin typeface="Calibri"/>
                <a:cs typeface="Calibri"/>
              </a:rPr>
              <a:t> path.</a:t>
            </a:r>
            <a:endParaRPr dirty="0">
              <a:latin typeface="Calibri"/>
              <a:cs typeface="Calibri"/>
            </a:endParaRPr>
          </a:p>
          <a:p>
            <a:pPr marL="523875" lvl="1" indent="-171450">
              <a:spcBef>
                <a:spcPts val="131"/>
              </a:spcBef>
              <a:buFont typeface="Arial"/>
              <a:buChar char="•"/>
              <a:tabLst>
                <a:tab pos="523875" algn="l"/>
              </a:tabLst>
            </a:pPr>
            <a:r>
              <a:rPr spc="-8" dirty="0">
                <a:latin typeface="Calibri"/>
                <a:cs typeface="Calibri"/>
              </a:rPr>
              <a:t>Steep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streams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that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are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highly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gravity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driven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and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have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small</a:t>
            </a:r>
            <a:r>
              <a:rPr spc="-8" dirty="0">
                <a:latin typeface="Calibri"/>
                <a:cs typeface="Calibri"/>
              </a:rPr>
              <a:t> overbank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areas.</a:t>
            </a:r>
            <a:endParaRPr dirty="0">
              <a:latin typeface="Calibri"/>
              <a:cs typeface="Calibri"/>
            </a:endParaRPr>
          </a:p>
          <a:p>
            <a:pPr marL="523875" marR="3810" lvl="1" indent="-171450">
              <a:lnSpc>
                <a:spcPts val="1943"/>
              </a:lnSpc>
              <a:spcBef>
                <a:spcPts val="405"/>
              </a:spcBef>
              <a:buFont typeface="Arial"/>
              <a:buChar char="•"/>
              <a:tabLst>
                <a:tab pos="523875" algn="l"/>
              </a:tabLst>
            </a:pPr>
            <a:r>
              <a:rPr spc="-8" dirty="0">
                <a:latin typeface="Calibri"/>
                <a:cs typeface="Calibri"/>
              </a:rPr>
              <a:t>River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systems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that </a:t>
            </a:r>
            <a:r>
              <a:rPr spc="-11" dirty="0">
                <a:latin typeface="Calibri"/>
                <a:cs typeface="Calibri"/>
              </a:rPr>
              <a:t>contain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" dirty="0">
                <a:latin typeface="Calibri"/>
                <a:cs typeface="Calibri"/>
              </a:rPr>
              <a:t> lot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bridges/culvert,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weirs,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dams,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gated</a:t>
            </a:r>
            <a:r>
              <a:rPr spc="-8" dirty="0">
                <a:latin typeface="Calibri"/>
                <a:cs typeface="Calibri"/>
              </a:rPr>
              <a:t> structures,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levees,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pump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stations, etc….</a:t>
            </a:r>
            <a:endParaRPr dirty="0">
              <a:latin typeface="Calibri"/>
              <a:cs typeface="Calibri"/>
            </a:endParaRPr>
          </a:p>
          <a:p>
            <a:pPr marL="523875" marR="66675" lvl="1" indent="-171450">
              <a:lnSpc>
                <a:spcPts val="1943"/>
              </a:lnSpc>
              <a:spcBef>
                <a:spcPts val="379"/>
              </a:spcBef>
              <a:buFont typeface="Arial"/>
              <a:buChar char="•"/>
              <a:tabLst>
                <a:tab pos="523875" algn="l"/>
              </a:tabLst>
            </a:pPr>
            <a:r>
              <a:rPr spc="-4" dirty="0">
                <a:latin typeface="Calibri"/>
                <a:cs typeface="Calibri"/>
              </a:rPr>
              <a:t>Medium </a:t>
            </a:r>
            <a:r>
              <a:rPr spc="-11" dirty="0">
                <a:latin typeface="Calibri"/>
                <a:cs typeface="Calibri"/>
              </a:rPr>
              <a:t>to large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river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systems</a:t>
            </a:r>
            <a:r>
              <a:rPr spc="-4" dirty="0">
                <a:latin typeface="Calibri"/>
                <a:cs typeface="Calibri"/>
              </a:rPr>
              <a:t> (50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or </a:t>
            </a:r>
            <a:r>
              <a:rPr spc="-8" dirty="0">
                <a:latin typeface="Calibri"/>
                <a:cs typeface="Calibri"/>
              </a:rPr>
              <a:t>more </a:t>
            </a:r>
            <a:r>
              <a:rPr spc="-4" dirty="0">
                <a:latin typeface="Calibri"/>
                <a:cs typeface="Calibri"/>
              </a:rPr>
              <a:t>miles), and</a:t>
            </a:r>
            <a:r>
              <a:rPr dirty="0">
                <a:latin typeface="Calibri"/>
                <a:cs typeface="Calibri"/>
              </a:rPr>
              <a:t> it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" dirty="0">
                <a:latin typeface="Calibri"/>
                <a:cs typeface="Calibri"/>
              </a:rPr>
              <a:t> necessary</a:t>
            </a:r>
            <a:r>
              <a:rPr spc="11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to </a:t>
            </a:r>
            <a:r>
              <a:rPr spc="-4" dirty="0">
                <a:latin typeface="Calibri"/>
                <a:cs typeface="Calibri"/>
              </a:rPr>
              <a:t>run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longer </a:t>
            </a:r>
            <a:r>
              <a:rPr dirty="0">
                <a:latin typeface="Calibri"/>
                <a:cs typeface="Calibri"/>
              </a:rPr>
              <a:t>time </a:t>
            </a:r>
            <a:r>
              <a:rPr spc="-394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periods (2</a:t>
            </a:r>
            <a:r>
              <a:rPr spc="-8" dirty="0">
                <a:latin typeface="Calibri"/>
                <a:cs typeface="Calibri"/>
              </a:rPr>
              <a:t> week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11" dirty="0">
                <a:latin typeface="Calibri"/>
                <a:cs typeface="Calibri"/>
              </a:rPr>
              <a:t>to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6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months).</a:t>
            </a:r>
            <a:endParaRPr dirty="0">
              <a:latin typeface="Calibri"/>
              <a:cs typeface="Calibri"/>
            </a:endParaRPr>
          </a:p>
          <a:p>
            <a:pPr marL="523875" lvl="1" indent="-171450">
              <a:spcBef>
                <a:spcPts val="131"/>
              </a:spcBef>
              <a:buFont typeface="Arial"/>
              <a:buChar char="•"/>
              <a:tabLst>
                <a:tab pos="523875" algn="l"/>
              </a:tabLst>
            </a:pPr>
            <a:r>
              <a:rPr spc="-8" dirty="0">
                <a:latin typeface="Calibri"/>
                <a:cs typeface="Calibri"/>
              </a:rPr>
              <a:t>Areas</a:t>
            </a:r>
            <a:r>
              <a:rPr dirty="0">
                <a:latin typeface="Calibri"/>
                <a:cs typeface="Calibri"/>
              </a:rPr>
              <a:t> in</a:t>
            </a:r>
            <a:r>
              <a:rPr spc="-4" dirty="0">
                <a:latin typeface="Calibri"/>
                <a:cs typeface="Calibri"/>
              </a:rPr>
              <a:t> which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4" dirty="0">
                <a:latin typeface="Calibri"/>
                <a:cs typeface="Calibri"/>
              </a:rPr>
              <a:t>basic </a:t>
            </a:r>
            <a:r>
              <a:rPr spc="-11" dirty="0">
                <a:latin typeface="Calibri"/>
                <a:cs typeface="Calibri"/>
              </a:rPr>
              <a:t>data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does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not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support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potential</a:t>
            </a:r>
            <a:r>
              <a:rPr spc="-11" dirty="0">
                <a:latin typeface="Calibri"/>
                <a:cs typeface="Calibri"/>
              </a:rPr>
              <a:t> gain </a:t>
            </a:r>
            <a:r>
              <a:rPr spc="-4" dirty="0">
                <a:latin typeface="Calibri"/>
                <a:cs typeface="Calibri"/>
              </a:rPr>
              <a:t>of</a:t>
            </a:r>
            <a:r>
              <a:rPr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using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2D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model.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3409" y="4818650"/>
            <a:ext cx="13477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4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depth_25m.mp4">
            <a:hlinkClick r:id="" action="ppaction://media"/>
            <a:extLst>
              <a:ext uri="{FF2B5EF4-FFF2-40B4-BE49-F238E27FC236}">
                <a16:creationId xmlns:a16="http://schemas.microsoft.com/office/drawing/2014/main" id="{EF2F8504-0019-F037-9030-95F6391777E1}"/>
              </a:ext>
            </a:extLst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454150"/>
            <a:ext cx="4746625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Cars that were washed away by heavy rains are piled up in an alley in the Saudi coastal city of Jeddah on 25 November 2022 (AFP)">
            <a:extLst>
              <a:ext uri="{FF2B5EF4-FFF2-40B4-BE49-F238E27FC236}">
                <a16:creationId xmlns:a16="http://schemas.microsoft.com/office/drawing/2014/main" id="{7A4F1D2D-668C-1B75-403A-2ED319651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317625"/>
            <a:ext cx="2879725" cy="191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eadly flooding leaves streets submerged in Saudi Arabia">
            <a:extLst>
              <a:ext uri="{FF2B5EF4-FFF2-40B4-BE49-F238E27FC236}">
                <a16:creationId xmlns:a16="http://schemas.microsoft.com/office/drawing/2014/main" id="{55D8662B-DE0F-E8C5-1A6F-E9CBDEC9A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566" y="3098007"/>
            <a:ext cx="2873375" cy="191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8E8FDF3E-2735-CD2B-9199-C5E79E0CABFB}"/>
              </a:ext>
            </a:extLst>
          </p:cNvPr>
          <p:cNvSpPr txBox="1">
            <a:spLocks/>
          </p:cNvSpPr>
          <p:nvPr/>
        </p:nvSpPr>
        <p:spPr>
          <a:xfrm>
            <a:off x="1432771" y="289583"/>
            <a:ext cx="7134588" cy="516969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pPr marL="9525">
              <a:spcBef>
                <a:spcPts val="71"/>
              </a:spcBef>
            </a:pPr>
            <a:r>
              <a:rPr lang="it-IT" sz="3300" spc="-4"/>
              <a:t>1D</a:t>
            </a:r>
            <a:r>
              <a:rPr lang="it-IT" sz="3300" spc="-8"/>
              <a:t> </a:t>
            </a:r>
            <a:r>
              <a:rPr lang="it-IT" sz="3300" spc="-11"/>
              <a:t>vs.</a:t>
            </a:r>
            <a:r>
              <a:rPr lang="it-IT" sz="3300" spc="8"/>
              <a:t> </a:t>
            </a:r>
            <a:r>
              <a:rPr lang="it-IT" sz="3300" spc="-4"/>
              <a:t>2D</a:t>
            </a:r>
            <a:r>
              <a:rPr lang="it-IT" sz="3300" spc="-8"/>
              <a:t> </a:t>
            </a:r>
            <a:r>
              <a:rPr lang="it-IT" sz="3300" spc="-15"/>
              <a:t>Hydraulic</a:t>
            </a:r>
            <a:r>
              <a:rPr lang="it-IT" sz="3300" spc="11"/>
              <a:t> </a:t>
            </a:r>
            <a:r>
              <a:rPr lang="it-IT" sz="3300" spc="-8"/>
              <a:t>Modeling</a:t>
            </a:r>
            <a:endParaRPr lang="it-IT" sz="3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616" y="1334523"/>
            <a:ext cx="6816090" cy="1250983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9525">
              <a:spcBef>
                <a:spcPts val="1515"/>
              </a:spcBef>
              <a:tabLst>
                <a:tab pos="431959" algn="l"/>
              </a:tabLst>
            </a:pPr>
            <a:r>
              <a:rPr lang="it-IT" b="1" spc="-4" dirty="0">
                <a:latin typeface="Arial"/>
                <a:cs typeface="Arial"/>
              </a:rPr>
              <a:t>1</a:t>
            </a:r>
            <a:r>
              <a:rPr b="1" spc="-4" dirty="0">
                <a:latin typeface="Arial"/>
                <a:cs typeface="Arial"/>
              </a:rPr>
              <a:t>.	Prepare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hydrographs</a:t>
            </a:r>
            <a:r>
              <a:rPr b="1" spc="-34" dirty="0"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(boundary</a:t>
            </a:r>
            <a:r>
              <a:rPr b="1" spc="-26" dirty="0"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conditions)</a:t>
            </a:r>
            <a:endParaRPr dirty="0">
              <a:latin typeface="Arial"/>
              <a:cs typeface="Arial"/>
            </a:endParaRPr>
          </a:p>
          <a:p>
            <a:pPr marL="694849" marR="3235166">
              <a:lnSpc>
                <a:spcPct val="150000"/>
              </a:lnSpc>
            </a:pPr>
            <a:r>
              <a:rPr spc="-4" dirty="0">
                <a:latin typeface="Arial"/>
                <a:cs typeface="Arial"/>
              </a:rPr>
              <a:t>Upstream flows</a:t>
            </a:r>
            <a:endParaRPr dirty="0">
              <a:latin typeface="Arial"/>
              <a:cs typeface="Arial"/>
            </a:endParaRPr>
          </a:p>
          <a:p>
            <a:pPr marL="694849" marR="1566386">
              <a:lnSpc>
                <a:spcPct val="150000"/>
              </a:lnSpc>
            </a:pPr>
            <a:r>
              <a:rPr spc="-4" dirty="0">
                <a:latin typeface="Arial"/>
                <a:cs typeface="Arial"/>
              </a:rPr>
              <a:t>Downstream</a:t>
            </a:r>
            <a:r>
              <a:rPr spc="-23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Boundary</a:t>
            </a:r>
            <a:r>
              <a:rPr spc="-19" dirty="0">
                <a:latin typeface="Arial"/>
                <a:cs typeface="Arial"/>
              </a:rPr>
              <a:t> </a:t>
            </a:r>
            <a:r>
              <a:rPr spc="-8" dirty="0">
                <a:latin typeface="Arial"/>
                <a:cs typeface="Arial"/>
              </a:rPr>
              <a:t>conditions</a:t>
            </a: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2540" y="364068"/>
            <a:ext cx="4094321" cy="516969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300" b="1" spc="-4" dirty="0"/>
              <a:t>Application</a:t>
            </a:r>
            <a:r>
              <a:rPr sz="3300" b="1" spc="-41" dirty="0"/>
              <a:t> </a:t>
            </a:r>
            <a:r>
              <a:rPr sz="3300" b="1" spc="-4" dirty="0"/>
              <a:t>Strategy</a:t>
            </a:r>
            <a:endParaRPr sz="3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9283" y="260985"/>
            <a:ext cx="4094321" cy="516969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300" b="1" spc="-4" dirty="0"/>
              <a:t>Application</a:t>
            </a:r>
            <a:r>
              <a:rPr sz="3300" b="1" spc="-41" dirty="0"/>
              <a:t> </a:t>
            </a:r>
            <a:r>
              <a:rPr sz="3300" b="1" spc="-4" dirty="0"/>
              <a:t>Strategy</a:t>
            </a:r>
            <a:endParaRPr sz="3300" dirty="0"/>
          </a:p>
        </p:txBody>
      </p:sp>
      <p:sp>
        <p:nvSpPr>
          <p:cNvPr id="4" name="object 4"/>
          <p:cNvSpPr txBox="1"/>
          <p:nvPr/>
        </p:nvSpPr>
        <p:spPr>
          <a:xfrm>
            <a:off x="428465" y="1122933"/>
            <a:ext cx="8224361" cy="3004027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9525">
              <a:spcBef>
                <a:spcPts val="1515"/>
              </a:spcBef>
              <a:tabLst>
                <a:tab pos="431959" algn="l"/>
              </a:tabLst>
            </a:pPr>
            <a:r>
              <a:rPr lang="it-IT" b="1" spc="-4" dirty="0">
                <a:latin typeface="Arial"/>
                <a:cs typeface="Arial"/>
              </a:rPr>
              <a:t>2</a:t>
            </a:r>
            <a:r>
              <a:rPr b="1" spc="-4" dirty="0">
                <a:latin typeface="Arial"/>
                <a:cs typeface="Arial"/>
              </a:rPr>
              <a:t>.	Calibration</a:t>
            </a:r>
            <a:endParaRPr dirty="0">
              <a:latin typeface="Arial"/>
              <a:cs typeface="Arial"/>
            </a:endParaRPr>
          </a:p>
          <a:p>
            <a:pPr marL="352425">
              <a:spcBef>
                <a:spcPts val="1440"/>
              </a:spcBef>
            </a:pPr>
            <a:r>
              <a:rPr b="1" spc="-15" dirty="0">
                <a:latin typeface="Arial"/>
                <a:cs typeface="Arial"/>
              </a:rPr>
              <a:t>Manning’s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i="1" spc="-4" dirty="0">
                <a:latin typeface="Arial"/>
                <a:cs typeface="Arial"/>
              </a:rPr>
              <a:t>n</a:t>
            </a:r>
            <a:r>
              <a:rPr b="1" i="1" spc="-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affects</a:t>
            </a:r>
            <a:r>
              <a:rPr spc="-4" dirty="0">
                <a:latin typeface="Arial"/>
                <a:cs typeface="Arial"/>
              </a:rPr>
              <a:t> both</a:t>
            </a:r>
            <a:r>
              <a:rPr spc="-11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stage</a:t>
            </a:r>
            <a:r>
              <a:rPr spc="-11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and</a:t>
            </a:r>
            <a:r>
              <a:rPr spc="-11" dirty="0">
                <a:latin typeface="Arial"/>
                <a:cs typeface="Arial"/>
              </a:rPr>
              <a:t> </a:t>
            </a:r>
            <a:r>
              <a:rPr spc="-8" dirty="0">
                <a:latin typeface="Arial"/>
                <a:cs typeface="Arial"/>
              </a:rPr>
              <a:t>timing.</a:t>
            </a:r>
            <a:endParaRPr dirty="0">
              <a:latin typeface="Arial"/>
              <a:cs typeface="Arial"/>
            </a:endParaRPr>
          </a:p>
          <a:p>
            <a:pPr marL="994886" marR="1034891" indent="-643414">
              <a:spcBef>
                <a:spcPts val="1440"/>
              </a:spcBef>
            </a:pPr>
            <a:r>
              <a:rPr b="1" spc="-4" dirty="0">
                <a:latin typeface="Arial"/>
                <a:cs typeface="Arial"/>
              </a:rPr>
              <a:t>Storage</a:t>
            </a:r>
            <a:r>
              <a:rPr b="1" spc="-11" dirty="0">
                <a:latin typeface="Arial"/>
                <a:cs typeface="Arial"/>
              </a:rPr>
              <a:t> </a:t>
            </a:r>
            <a:r>
              <a:rPr b="1" spc="-8" dirty="0">
                <a:latin typeface="Arial"/>
                <a:cs typeface="Arial"/>
              </a:rPr>
              <a:t>areas/ineffective</a:t>
            </a:r>
            <a:r>
              <a:rPr b="1" spc="-11" dirty="0"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flow areas</a:t>
            </a:r>
            <a:r>
              <a:rPr b="1" spc="23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can</a:t>
            </a:r>
            <a:r>
              <a:rPr spc="-11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be</a:t>
            </a:r>
            <a:r>
              <a:rPr spc="-8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very </a:t>
            </a:r>
            <a:r>
              <a:rPr spc="-656" dirty="0">
                <a:latin typeface="Arial"/>
                <a:cs typeface="Arial"/>
              </a:rPr>
              <a:t> </a:t>
            </a:r>
            <a:r>
              <a:rPr spc="-8" dirty="0">
                <a:latin typeface="Arial"/>
                <a:cs typeface="Arial"/>
              </a:rPr>
              <a:t>important.</a:t>
            </a:r>
            <a:endParaRPr dirty="0">
              <a:latin typeface="Arial"/>
              <a:cs typeface="Arial"/>
            </a:endParaRPr>
          </a:p>
          <a:p>
            <a:pPr marL="351949">
              <a:spcBef>
                <a:spcPts val="1440"/>
              </a:spcBef>
            </a:pPr>
            <a:r>
              <a:rPr spc="-4" dirty="0">
                <a:latin typeface="Arial"/>
                <a:cs typeface="Arial"/>
              </a:rPr>
              <a:t>Fine</a:t>
            </a:r>
            <a:r>
              <a:rPr spc="-8" dirty="0">
                <a:latin typeface="Arial"/>
                <a:cs typeface="Arial"/>
              </a:rPr>
              <a:t> tuning</a:t>
            </a:r>
            <a:r>
              <a:rPr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of</a:t>
            </a:r>
            <a:r>
              <a:rPr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flood</a:t>
            </a:r>
            <a:r>
              <a:rPr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wave</a:t>
            </a:r>
            <a:r>
              <a:rPr dirty="0">
                <a:latin typeface="Arial"/>
                <a:cs typeface="Arial"/>
              </a:rPr>
              <a:t> </a:t>
            </a:r>
            <a:r>
              <a:rPr spc="-8" dirty="0">
                <a:latin typeface="Arial"/>
                <a:cs typeface="Arial"/>
              </a:rPr>
              <a:t>attenuation </a:t>
            </a:r>
            <a:r>
              <a:rPr spc="-4" dirty="0">
                <a:latin typeface="Arial"/>
                <a:cs typeface="Arial"/>
              </a:rPr>
              <a:t>via</a:t>
            </a:r>
            <a:r>
              <a:rPr dirty="0">
                <a:latin typeface="Arial"/>
                <a:cs typeface="Arial"/>
              </a:rPr>
              <a:t> </a:t>
            </a:r>
            <a:r>
              <a:rPr b="1" spc="-8" dirty="0">
                <a:latin typeface="Arial"/>
                <a:cs typeface="Arial"/>
              </a:rPr>
              <a:t>conveyance</a:t>
            </a:r>
            <a:endParaRPr dirty="0">
              <a:latin typeface="Arial"/>
              <a:cs typeface="Arial"/>
            </a:endParaRPr>
          </a:p>
          <a:p>
            <a:pPr marL="994886"/>
            <a:r>
              <a:rPr spc="-4" dirty="0">
                <a:latin typeface="Arial"/>
                <a:cs typeface="Arial"/>
              </a:rPr>
              <a:t>adjustment.</a:t>
            </a:r>
            <a:endParaRPr dirty="0">
              <a:latin typeface="Arial"/>
              <a:cs typeface="Arial"/>
            </a:endParaRPr>
          </a:p>
          <a:p>
            <a:pPr marL="994886" marR="3810" indent="-643414">
              <a:lnSpc>
                <a:spcPts val="2805"/>
              </a:lnSpc>
              <a:spcBef>
                <a:spcPts val="1594"/>
              </a:spcBef>
            </a:pPr>
            <a:r>
              <a:rPr b="1" spc="-4" dirty="0">
                <a:latin typeface="Arial"/>
                <a:cs typeface="Arial"/>
              </a:rPr>
              <a:t>Structures </a:t>
            </a:r>
            <a:r>
              <a:rPr spc="-4" dirty="0">
                <a:latin typeface="Arial"/>
                <a:cs typeface="Arial"/>
              </a:rPr>
              <a:t>such as bridges, diversions and </a:t>
            </a:r>
            <a:r>
              <a:rPr spc="-8" dirty="0">
                <a:latin typeface="Arial"/>
                <a:cs typeface="Arial"/>
              </a:rPr>
              <a:t>pumps </a:t>
            </a:r>
            <a:r>
              <a:rPr spc="-4" dirty="0">
                <a:latin typeface="Arial"/>
                <a:cs typeface="Arial"/>
              </a:rPr>
              <a:t>can </a:t>
            </a:r>
            <a:r>
              <a:rPr spc="-8" dirty="0">
                <a:latin typeface="Arial"/>
                <a:cs typeface="Arial"/>
              </a:rPr>
              <a:t>be </a:t>
            </a:r>
            <a:r>
              <a:rPr spc="-656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useful</a:t>
            </a:r>
            <a:r>
              <a:rPr spc="-8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sources</a:t>
            </a:r>
            <a:r>
              <a:rPr spc="-11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of </a:t>
            </a:r>
            <a:r>
              <a:rPr spc="-8" dirty="0">
                <a:latin typeface="Arial"/>
                <a:cs typeface="Arial"/>
              </a:rPr>
              <a:t>data.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13288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10001">
              <a:spcBef>
                <a:spcPts val="75"/>
              </a:spcBef>
            </a:pPr>
            <a:r>
              <a:rPr spc="-4" dirty="0"/>
              <a:t>Que</a:t>
            </a:r>
            <a:r>
              <a:rPr spc="-56" dirty="0"/>
              <a:t>s</a:t>
            </a:r>
            <a:r>
              <a:rPr dirty="0"/>
              <a:t>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0659" y="4818650"/>
            <a:ext cx="13477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4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-bluebar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white-bluebar-template.potx</Template>
  <TotalTime>647</TotalTime>
  <Words>972</Words>
  <Application>Microsoft Office PowerPoint</Application>
  <PresentationFormat>On-screen Show (16:9)</PresentationFormat>
  <Paragraphs>109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times new roman</vt:lpstr>
      <vt:lpstr>white-bluebar-template</vt:lpstr>
      <vt:lpstr>1_Custom Design</vt:lpstr>
      <vt:lpstr>Custom Design</vt:lpstr>
      <vt:lpstr>PowerPoint Presentation</vt:lpstr>
      <vt:lpstr>Overview</vt:lpstr>
      <vt:lpstr>What is Unsteady flow?</vt:lpstr>
      <vt:lpstr>What is Unsteady flow?</vt:lpstr>
      <vt:lpstr>PowerPoint Presentation</vt:lpstr>
      <vt:lpstr>How is it different than Steady flow?</vt:lpstr>
      <vt:lpstr>How is it different than Steady flow?</vt:lpstr>
      <vt:lpstr>How is it different than Steady flow?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</vt:lpstr>
      <vt:lpstr>Unsteady Flow Routing (1D or 2D)  vs Hydrologic Routing/Steady Flow Hydraulics?</vt:lpstr>
      <vt:lpstr>Unsteady Flow Routing (1D or 2D)  vs Hydrologic Routing/Steady Flow Hydraulics?</vt:lpstr>
      <vt:lpstr>1D vs. 2D Hydraulic Modeling</vt:lpstr>
      <vt:lpstr>1D vs. 2D Hydraulic Modeling</vt:lpstr>
      <vt:lpstr>PowerPoint Presentation</vt:lpstr>
      <vt:lpstr>Application Strategy</vt:lpstr>
      <vt:lpstr>Application Strategy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Consorzio Leb</cp:lastModifiedBy>
  <cp:revision>67</cp:revision>
  <dcterms:created xsi:type="dcterms:W3CDTF">2010-04-12T23:12:02Z</dcterms:created>
  <dcterms:modified xsi:type="dcterms:W3CDTF">2023-07-17T07:22:03Z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