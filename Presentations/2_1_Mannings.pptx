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6.jpg" ContentType="image/jpg"/>
  <Override PartName="/ppt/media/image17.jpg" ContentType="image/jpg"/>
  <Override PartName="/ppt/media/image18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  <p:sldMasterId id="2147493479" r:id="rId5"/>
    <p:sldMasterId id="2147493467" r:id="rId6"/>
  </p:sldMasterIdLst>
  <p:notesMasterIdLst>
    <p:notesMasterId r:id="rId19"/>
  </p:notesMasterIdLst>
  <p:handoutMasterIdLst>
    <p:handoutMasterId r:id="rId20"/>
  </p:handoutMasterIdLst>
  <p:sldIdLst>
    <p:sldId id="259" r:id="rId7"/>
    <p:sldId id="295" r:id="rId8"/>
    <p:sldId id="330" r:id="rId9"/>
    <p:sldId id="329" r:id="rId10"/>
    <p:sldId id="304" r:id="rId11"/>
    <p:sldId id="297" r:id="rId12"/>
    <p:sldId id="299" r:id="rId13"/>
    <p:sldId id="300" r:id="rId14"/>
    <p:sldId id="301" r:id="rId15"/>
    <p:sldId id="302" r:id="rId16"/>
    <p:sldId id="303" r:id="rId17"/>
    <p:sldId id="294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938"/>
    <a:srgbClr val="002868"/>
    <a:srgbClr val="100E42"/>
    <a:srgbClr val="100E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89" autoAdjust="0"/>
    <p:restoredTop sz="94660"/>
  </p:normalViewPr>
  <p:slideViewPr>
    <p:cSldViewPr snapToGrid="0" snapToObjects="1">
      <p:cViewPr varScale="1">
        <p:scale>
          <a:sx n="128" d="100"/>
          <a:sy n="128" d="100"/>
        </p:scale>
        <p:origin x="150" y="28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0BE6C-4C0C-8046-BBFD-371AD798216A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EFCB1-D51F-8E41-88AA-D42180FBBA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099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DEE98-DA65-4736-B268-05EAF0A4F74D}" type="datetimeFigureOut">
              <a:rPr lang="it-IT" smtClean="0"/>
              <a:t>17/07/2023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0DAC13-36C7-4655-BCDC-381C83CD8E8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187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B3CC-F982-40F9-8DD6-BCC9AFBF44BD}" type="datetime1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E988-FB04-AB4E-BE5A-59F242AF7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Heading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46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44277"/>
            <a:ext cx="4038600" cy="3394075"/>
          </a:xfrm>
        </p:spPr>
        <p:txBody>
          <a:bodyPr>
            <a:normAutofit/>
          </a:bodyPr>
          <a:lstStyle>
            <a:lvl1pPr>
              <a:defRPr sz="20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2000">
                <a:latin typeface="Arial"/>
                <a:cs typeface="Arial"/>
              </a:defRPr>
            </a:lvl3pPr>
            <a:lvl4pPr>
              <a:defRPr sz="2000">
                <a:latin typeface="Arial"/>
                <a:cs typeface="Arial"/>
              </a:defRPr>
            </a:lvl4pPr>
            <a:lvl5pPr>
              <a:defRPr sz="20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44277"/>
            <a:ext cx="4038600" cy="3394075"/>
          </a:xfrm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4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>
            <a:normAutofit/>
          </a:bodyPr>
          <a:lstStyle>
            <a:lvl1pPr>
              <a:defRPr sz="1800">
                <a:latin typeface="Arial"/>
                <a:cs typeface="Arial"/>
              </a:defRPr>
            </a:lvl1pPr>
            <a:lvl2pPr>
              <a:defRPr sz="18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>
            <a:normAutofit/>
          </a:bodyPr>
          <a:lstStyle>
            <a:lvl1pPr>
              <a:defRPr sz="1800">
                <a:latin typeface="Arial"/>
                <a:cs typeface="Arial"/>
              </a:defRPr>
            </a:lvl1pPr>
            <a:lvl2pPr>
              <a:defRPr sz="18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800"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62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6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1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91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647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748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98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88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98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97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697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3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48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074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252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835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4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2560D-EC28-3B41-86E8-18F1CE0113B4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34325" y="0"/>
            <a:ext cx="9178325" cy="1200150"/>
          </a:xfrm>
          <a:prstGeom prst="rect">
            <a:avLst/>
          </a:prstGeom>
          <a:solidFill>
            <a:srgbClr val="100E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4277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0CA21-89C5-A040-B01E-D208A7FA3D8D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697F5-3DCA-0A4F-B9EA-FEC2794BD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83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81" r:id="rId1"/>
    <p:sldLayoutId id="2147493483" r:id="rId2"/>
    <p:sldLayoutId id="2147493484" r:id="rId3"/>
    <p:sldLayoutId id="2147493485" r:id="rId4"/>
    <p:sldLayoutId id="2147493486" r:id="rId5"/>
    <p:sldLayoutId id="2147493487" r:id="rId6"/>
    <p:sldLayoutId id="2147493488" r:id="rId7"/>
    <p:sldLayoutId id="2147493489" r:id="rId8"/>
    <p:sldLayoutId id="2147493490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656F7-E2D5-EF4D-B3EB-3635D9B80BFE}" type="datetimeFigureOut">
              <a:rPr lang="en-US" smtClean="0"/>
              <a:t>7/17/2023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7C81B-7B5A-A644-B3E8-EC3DC39B6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03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68" r:id="rId1"/>
    <p:sldLayoutId id="2147493469" r:id="rId2"/>
    <p:sldLayoutId id="2147493470" r:id="rId3"/>
    <p:sldLayoutId id="2147493471" r:id="rId4"/>
    <p:sldLayoutId id="2147493472" r:id="rId5"/>
    <p:sldLayoutId id="2147493473" r:id="rId6"/>
    <p:sldLayoutId id="2147493474" r:id="rId7"/>
    <p:sldLayoutId id="2147493475" r:id="rId8"/>
    <p:sldLayoutId id="2147493476" r:id="rId9"/>
    <p:sldLayoutId id="2147493477" r:id="rId10"/>
    <p:sldLayoutId id="214749347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66813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2048828" marR="3810" indent="-2039779">
              <a:lnSpc>
                <a:spcPts val="4860"/>
              </a:lnSpc>
              <a:spcBef>
                <a:spcPts val="686"/>
              </a:spcBef>
            </a:pPr>
            <a:r>
              <a:rPr lang="en-US" sz="4400" spc="-8" dirty="0">
                <a:solidFill>
                  <a:schemeClr val="tx1"/>
                </a:solidFill>
                <a:latin typeface="Calibri Light"/>
                <a:cs typeface="Calibri Light"/>
              </a:rPr>
              <a:t>HEC-RAS. </a:t>
            </a:r>
          </a:p>
          <a:p>
            <a:pPr marL="2048828" marR="3810" indent="-2039779">
              <a:lnSpc>
                <a:spcPts val="4860"/>
              </a:lnSpc>
              <a:spcBef>
                <a:spcPts val="686"/>
              </a:spcBef>
            </a:pPr>
            <a:endParaRPr lang="en-US" sz="4400" dirty="0">
              <a:solidFill>
                <a:schemeClr val="tx1"/>
              </a:solidFill>
              <a:latin typeface="Calibri Light"/>
              <a:cs typeface="Calibri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E6455-5C15-9D2F-B3A0-358C82BE8A6D}"/>
              </a:ext>
            </a:extLst>
          </p:cNvPr>
          <p:cNvSpPr txBox="1"/>
          <p:nvPr/>
        </p:nvSpPr>
        <p:spPr>
          <a:xfrm>
            <a:off x="3844636" y="1115930"/>
            <a:ext cx="542405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spc="-8" dirty="0">
                <a:latin typeface="Calibri Light"/>
                <a:ea typeface="+mj-ea"/>
                <a:cs typeface="Calibri Light"/>
              </a:rPr>
              <a:t>Land</a:t>
            </a:r>
            <a:r>
              <a:rPr lang="en-US" sz="1800" spc="-25" dirty="0">
                <a:solidFill>
                  <a:srgbClr val="000000"/>
                </a:solidFill>
              </a:rPr>
              <a:t> </a:t>
            </a:r>
            <a:r>
              <a:rPr lang="en-US" sz="4400" spc="-8" dirty="0">
                <a:latin typeface="Calibri Light"/>
                <a:ea typeface="+mj-ea"/>
                <a:cs typeface="Calibri Light"/>
              </a:rPr>
              <a:t>Cover Layer and  Manning’s n Values</a:t>
            </a:r>
            <a:endParaRPr lang="it-IT" sz="4400" spc="-8" dirty="0">
              <a:latin typeface="Calibri Light"/>
              <a:ea typeface="+mj-ea"/>
              <a:cs typeface="Calibri Ligh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CA69B-7990-E100-E04D-88B47222704B}"/>
              </a:ext>
            </a:extLst>
          </p:cNvPr>
          <p:cNvSpPr txBox="1">
            <a:spLocks/>
          </p:cNvSpPr>
          <p:nvPr/>
        </p:nvSpPr>
        <p:spPr>
          <a:xfrm>
            <a:off x="0" y="3918801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Giulia Sofia, PhD</a:t>
            </a:r>
          </a:p>
        </p:txBody>
      </p:sp>
      <p:pic>
        <p:nvPicPr>
          <p:cNvPr id="1026" name="Picture 2" descr="figure 1">
            <a:extLst>
              <a:ext uri="{FF2B5EF4-FFF2-40B4-BE49-F238E27FC236}">
                <a16:creationId xmlns:a16="http://schemas.microsoft.com/office/drawing/2014/main" id="{1E6DB687-FB01-B48E-674A-CA70D93E62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8" r="9018"/>
          <a:stretch/>
        </p:blipFill>
        <p:spPr bwMode="auto">
          <a:xfrm>
            <a:off x="304800" y="1895604"/>
            <a:ext cx="3368884" cy="202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93F4BF-FFC3-F0A0-5DF4-A777B31DD98A}"/>
              </a:ext>
            </a:extLst>
          </p:cNvPr>
          <p:cNvSpPr txBox="1"/>
          <p:nvPr/>
        </p:nvSpPr>
        <p:spPr>
          <a:xfrm>
            <a:off x="214746" y="3935236"/>
            <a:ext cx="46343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500" i="1" dirty="0" err="1"/>
              <a:t>Modified</a:t>
            </a:r>
            <a:r>
              <a:rPr lang="it-IT" sz="500" i="1" dirty="0"/>
              <a:t> from </a:t>
            </a:r>
          </a:p>
          <a:p>
            <a:r>
              <a:rPr lang="it-IT" sz="500" i="1" dirty="0"/>
              <a:t>https://doi.org/10.1038/s41598-019-51490-5</a:t>
            </a:r>
          </a:p>
        </p:txBody>
      </p:sp>
    </p:spTree>
    <p:extLst>
      <p:ext uri="{BB962C8B-B14F-4D97-AF65-F5344CB8AC3E}">
        <p14:creationId xmlns:p14="http://schemas.microsoft.com/office/powerpoint/2010/main" val="44067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060750-7426-85A0-ACA2-E14CDEEAD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1. Why do we need it?</a:t>
            </a:r>
          </a:p>
          <a:p>
            <a:pPr marL="0" indent="0" algn="l">
              <a:buNone/>
            </a:pPr>
            <a:r>
              <a:rPr lang="en-US" dirty="0"/>
              <a:t> </a:t>
            </a:r>
          </a:p>
          <a:p>
            <a:pPr marL="0" indent="0" algn="l">
              <a:buNone/>
            </a:pPr>
            <a:r>
              <a:rPr lang="en-US" dirty="0"/>
              <a:t>2. Land Cover Data Sources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/>
              <a:t>3. Importing Land Cover Data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/>
              <a:t>4. Associating Manning’s n Values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/>
              <a:t>5. What if I don’t have any?</a:t>
            </a:r>
          </a:p>
        </p:txBody>
      </p:sp>
    </p:spTree>
    <p:extLst>
      <p:ext uri="{BB962C8B-B14F-4D97-AF65-F5344CB8AC3E}">
        <p14:creationId xmlns:p14="http://schemas.microsoft.com/office/powerpoint/2010/main" val="321001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Application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1321A5-1CEB-409F-8846-C1DC29A60D6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EAA3D-7008-CA35-CC25-F6BB9335ED23}"/>
              </a:ext>
            </a:extLst>
          </p:cNvPr>
          <p:cNvSpPr txBox="1"/>
          <p:nvPr/>
        </p:nvSpPr>
        <p:spPr>
          <a:xfrm>
            <a:off x="183571" y="1339641"/>
            <a:ext cx="8551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During floods, part of the discharge of a river is carried by the simple main channel and the rest are carried by the floodplains located to its sides.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Depth and Velocity of flow adjust themselves is response to input flow rate, energy gradient, and channel/floodplain properties that cause resistance—all expressed in Manning’s coefficient</a:t>
            </a:r>
            <a:endParaRPr lang="it-IT" dirty="0"/>
          </a:p>
        </p:txBody>
      </p:sp>
      <p:pic>
        <p:nvPicPr>
          <p:cNvPr id="6" name="Picture 3" descr="Picture 3">
            <a:extLst>
              <a:ext uri="{FF2B5EF4-FFF2-40B4-BE49-F238E27FC236}">
                <a16:creationId xmlns:a16="http://schemas.microsoft.com/office/drawing/2014/main" id="{EBD1842A-FF18-3FDE-2D06-A1CB7B8E91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389"/>
          <a:stretch/>
        </p:blipFill>
        <p:spPr>
          <a:xfrm>
            <a:off x="2414155" y="3174996"/>
            <a:ext cx="4315690" cy="172958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1325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154" end="3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Application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1321A5-1CEB-409F-8846-C1DC29A60D6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5BF56BF3-D16B-E5E5-E70F-111F704D2FBD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372791"/>
            <a:ext cx="431165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  <a:p>
            <a:pPr algn="just"/>
            <a:r>
              <a:rPr lang="en-US" dirty="0"/>
              <a:t>From an analytical standpoint, </a:t>
            </a:r>
            <a:r>
              <a:rPr lang="en-US" dirty="0" err="1"/>
              <a:t>Mannings</a:t>
            </a:r>
            <a:r>
              <a:rPr lang="en-US" dirty="0"/>
              <a:t>’ n value is a coefficient that needs to be chosen to calculate or model flow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From a practical standpoint, we can estimate this coefficient based on land-cover</a:t>
            </a:r>
          </a:p>
        </p:txBody>
      </p:sp>
      <p:pic>
        <p:nvPicPr>
          <p:cNvPr id="2050" name="Picture 2" descr="NLCD Land Cover - GRASS-Wiki">
            <a:extLst>
              <a:ext uri="{FF2B5EF4-FFF2-40B4-BE49-F238E27FC236}">
                <a16:creationId xmlns:a16="http://schemas.microsoft.com/office/drawing/2014/main" id="{2B3BB20D-A626-4D85-ED3A-2F345840D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399" y="1712423"/>
            <a:ext cx="4311650" cy="2715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ADEE4A-DC56-59AC-CC2F-7A4B8C10CE16}"/>
              </a:ext>
            </a:extLst>
          </p:cNvPr>
          <p:cNvSpPr txBox="1"/>
          <p:nvPr/>
        </p:nvSpPr>
        <p:spPr>
          <a:xfrm>
            <a:off x="322521" y="1406789"/>
            <a:ext cx="8710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European Space Agency (ESA) </a:t>
            </a:r>
            <a:r>
              <a:rPr lang="en-US" dirty="0" err="1"/>
              <a:t>WorldCover</a:t>
            </a:r>
            <a:r>
              <a:rPr lang="en-US" dirty="0"/>
              <a:t> 100 m &gt;&gt;10m 2020</a:t>
            </a:r>
            <a:endParaRPr lang="it-IT" dirty="0"/>
          </a:p>
        </p:txBody>
      </p:sp>
      <p:pic>
        <p:nvPicPr>
          <p:cNvPr id="4" name="Picture 3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B49E0E9A-B992-916A-4F89-F5B38F10A8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44" b="61240"/>
          <a:stretch/>
        </p:blipFill>
        <p:spPr>
          <a:xfrm>
            <a:off x="187841" y="1776121"/>
            <a:ext cx="8633638" cy="279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792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data</a:t>
            </a: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56A4C200-D8B0-4FBD-DD06-1B6F6644DBC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1935" y="1272201"/>
            <a:ext cx="3210310" cy="3590480"/>
          </a:xfrm>
          <a:prstGeom prst="rect">
            <a:avLst/>
          </a:prstGeom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DACDB3F9-DE76-7D2B-2F39-DAD8DC05ADF0}"/>
              </a:ext>
            </a:extLst>
          </p:cNvPr>
          <p:cNvSpPr txBox="1">
            <a:spLocks/>
          </p:cNvSpPr>
          <p:nvPr/>
        </p:nvSpPr>
        <p:spPr>
          <a:xfrm>
            <a:off x="3651009" y="1378526"/>
            <a:ext cx="1446516" cy="373692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5080" indent="234315">
              <a:lnSpc>
                <a:spcPct val="101499"/>
              </a:lnSpc>
              <a:spcBef>
                <a:spcPts val="95"/>
              </a:spcBef>
            </a:pPr>
            <a:r>
              <a:rPr lang="it-IT" sz="1200" dirty="0"/>
              <a:t>Create </a:t>
            </a:r>
            <a:r>
              <a:rPr lang="it-IT" sz="1200" spc="5" dirty="0"/>
              <a:t> Land</a:t>
            </a:r>
            <a:r>
              <a:rPr lang="it-IT" sz="1200" spc="-40" dirty="0"/>
              <a:t> </a:t>
            </a:r>
            <a:r>
              <a:rPr lang="it-IT" sz="1200" dirty="0"/>
              <a:t>Cover</a:t>
            </a:r>
          </a:p>
        </p:txBody>
      </p:sp>
      <p:grpSp>
        <p:nvGrpSpPr>
          <p:cNvPr id="11" name="object 7">
            <a:extLst>
              <a:ext uri="{FF2B5EF4-FFF2-40B4-BE49-F238E27FC236}">
                <a16:creationId xmlns:a16="http://schemas.microsoft.com/office/drawing/2014/main" id="{8BB9980B-57E2-93B4-9C20-874498F1A521}"/>
              </a:ext>
            </a:extLst>
          </p:cNvPr>
          <p:cNvGrpSpPr/>
          <p:nvPr/>
        </p:nvGrpSpPr>
        <p:grpSpPr>
          <a:xfrm>
            <a:off x="3699185" y="1661223"/>
            <a:ext cx="1583905" cy="638810"/>
            <a:chOff x="4543742" y="1844738"/>
            <a:chExt cx="1260475" cy="638810"/>
          </a:xfrm>
        </p:grpSpPr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6BF09777-8687-A8F9-4BDB-C4D663D9EE22}"/>
                </a:ext>
              </a:extLst>
            </p:cNvPr>
            <p:cNvSpPr/>
            <p:nvPr/>
          </p:nvSpPr>
          <p:spPr>
            <a:xfrm>
              <a:off x="4549139" y="1850135"/>
              <a:ext cx="1249680" cy="628015"/>
            </a:xfrm>
            <a:custGeom>
              <a:avLst/>
              <a:gdLst/>
              <a:ahLst/>
              <a:cxnLst/>
              <a:rect l="l" t="t" r="r" b="b"/>
              <a:pathLst>
                <a:path w="1249679" h="628014">
                  <a:moveTo>
                    <a:pt x="1144524" y="627888"/>
                  </a:moveTo>
                  <a:lnTo>
                    <a:pt x="105155" y="627888"/>
                  </a:lnTo>
                  <a:lnTo>
                    <a:pt x="64293" y="619601"/>
                  </a:lnTo>
                  <a:lnTo>
                    <a:pt x="30860" y="597027"/>
                  </a:lnTo>
                  <a:lnTo>
                    <a:pt x="8286" y="563594"/>
                  </a:lnTo>
                  <a:lnTo>
                    <a:pt x="0" y="522732"/>
                  </a:lnTo>
                  <a:lnTo>
                    <a:pt x="0" y="103632"/>
                  </a:lnTo>
                  <a:lnTo>
                    <a:pt x="8286" y="63007"/>
                  </a:lnTo>
                  <a:lnTo>
                    <a:pt x="30860" y="30099"/>
                  </a:lnTo>
                  <a:lnTo>
                    <a:pt x="64293" y="8048"/>
                  </a:lnTo>
                  <a:lnTo>
                    <a:pt x="105155" y="0"/>
                  </a:lnTo>
                  <a:lnTo>
                    <a:pt x="1144524" y="0"/>
                  </a:lnTo>
                  <a:lnTo>
                    <a:pt x="1185386" y="8048"/>
                  </a:lnTo>
                  <a:lnTo>
                    <a:pt x="1218818" y="30099"/>
                  </a:lnTo>
                  <a:lnTo>
                    <a:pt x="1241393" y="63007"/>
                  </a:lnTo>
                  <a:lnTo>
                    <a:pt x="1249679" y="103632"/>
                  </a:lnTo>
                  <a:lnTo>
                    <a:pt x="1249679" y="522732"/>
                  </a:lnTo>
                  <a:lnTo>
                    <a:pt x="1241393" y="563594"/>
                  </a:lnTo>
                  <a:lnTo>
                    <a:pt x="1218818" y="597027"/>
                  </a:lnTo>
                  <a:lnTo>
                    <a:pt x="1185386" y="619601"/>
                  </a:lnTo>
                  <a:lnTo>
                    <a:pt x="1144524" y="627888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9">
              <a:extLst>
                <a:ext uri="{FF2B5EF4-FFF2-40B4-BE49-F238E27FC236}">
                  <a16:creationId xmlns:a16="http://schemas.microsoft.com/office/drawing/2014/main" id="{F98AC750-1ECE-9290-2D6A-8CE9CB75678F}"/>
                </a:ext>
              </a:extLst>
            </p:cNvPr>
            <p:cNvSpPr/>
            <p:nvPr/>
          </p:nvSpPr>
          <p:spPr>
            <a:xfrm>
              <a:off x="4549139" y="1850135"/>
              <a:ext cx="1249680" cy="628015"/>
            </a:xfrm>
            <a:custGeom>
              <a:avLst/>
              <a:gdLst/>
              <a:ahLst/>
              <a:cxnLst/>
              <a:rect l="l" t="t" r="r" b="b"/>
              <a:pathLst>
                <a:path w="1249679" h="628014">
                  <a:moveTo>
                    <a:pt x="0" y="103632"/>
                  </a:moveTo>
                  <a:lnTo>
                    <a:pt x="8286" y="63007"/>
                  </a:lnTo>
                  <a:lnTo>
                    <a:pt x="30860" y="30099"/>
                  </a:lnTo>
                  <a:lnTo>
                    <a:pt x="64293" y="8048"/>
                  </a:lnTo>
                  <a:lnTo>
                    <a:pt x="105155" y="0"/>
                  </a:lnTo>
                  <a:lnTo>
                    <a:pt x="1144524" y="0"/>
                  </a:lnTo>
                  <a:lnTo>
                    <a:pt x="1185386" y="8048"/>
                  </a:lnTo>
                  <a:lnTo>
                    <a:pt x="1218818" y="30099"/>
                  </a:lnTo>
                  <a:lnTo>
                    <a:pt x="1241393" y="63007"/>
                  </a:lnTo>
                  <a:lnTo>
                    <a:pt x="1249679" y="103632"/>
                  </a:lnTo>
                  <a:lnTo>
                    <a:pt x="1249679" y="522732"/>
                  </a:lnTo>
                  <a:lnTo>
                    <a:pt x="1241393" y="563594"/>
                  </a:lnTo>
                  <a:lnTo>
                    <a:pt x="1218818" y="597027"/>
                  </a:lnTo>
                  <a:lnTo>
                    <a:pt x="1185386" y="619601"/>
                  </a:lnTo>
                  <a:lnTo>
                    <a:pt x="1144524" y="627888"/>
                  </a:lnTo>
                  <a:lnTo>
                    <a:pt x="105155" y="627888"/>
                  </a:lnTo>
                  <a:lnTo>
                    <a:pt x="64293" y="619601"/>
                  </a:lnTo>
                  <a:lnTo>
                    <a:pt x="30860" y="597027"/>
                  </a:lnTo>
                  <a:lnTo>
                    <a:pt x="8286" y="563594"/>
                  </a:lnTo>
                  <a:lnTo>
                    <a:pt x="0" y="522732"/>
                  </a:lnTo>
                  <a:lnTo>
                    <a:pt x="0" y="103632"/>
                  </a:lnTo>
                  <a:close/>
                </a:path>
              </a:pathLst>
            </a:custGeom>
            <a:ln w="10668">
              <a:solidFill>
                <a:srgbClr val="2F52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0">
            <a:extLst>
              <a:ext uri="{FF2B5EF4-FFF2-40B4-BE49-F238E27FC236}">
                <a16:creationId xmlns:a16="http://schemas.microsoft.com/office/drawing/2014/main" id="{B0CBAE80-9154-C0AC-012D-B84355A88307}"/>
              </a:ext>
            </a:extLst>
          </p:cNvPr>
          <p:cNvSpPr txBox="1"/>
          <p:nvPr/>
        </p:nvSpPr>
        <p:spPr>
          <a:xfrm>
            <a:off x="4032149" y="1730089"/>
            <a:ext cx="962025" cy="478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" marR="5080" indent="-47625">
              <a:lnSpc>
                <a:spcPct val="102099"/>
              </a:lnSpc>
              <a:spcBef>
                <a:spcPts val="100"/>
              </a:spcBef>
            </a:pPr>
            <a:r>
              <a:rPr sz="1450" spc="10" dirty="0">
                <a:solidFill>
                  <a:srgbClr val="FFFFFF"/>
                </a:solidFill>
                <a:latin typeface="Calibri"/>
                <a:cs typeface="Calibri"/>
              </a:rPr>
              <a:t>Import</a:t>
            </a:r>
            <a:r>
              <a:rPr sz="14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spc="10" dirty="0">
                <a:solidFill>
                  <a:srgbClr val="FFFFFF"/>
                </a:solidFill>
                <a:latin typeface="Calibri"/>
                <a:cs typeface="Calibri"/>
              </a:rPr>
              <a:t>Land </a:t>
            </a:r>
            <a:r>
              <a:rPr sz="1450" spc="-3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spc="5" dirty="0">
                <a:solidFill>
                  <a:srgbClr val="FFFFFF"/>
                </a:solidFill>
                <a:latin typeface="Calibri"/>
                <a:cs typeface="Calibri"/>
              </a:rPr>
              <a:t>Cover</a:t>
            </a:r>
            <a:r>
              <a:rPr sz="14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50" spc="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450" dirty="0">
              <a:latin typeface="Calibri"/>
              <a:cs typeface="Calibri"/>
            </a:endParaRPr>
          </a:p>
        </p:txBody>
      </p:sp>
      <p:grpSp>
        <p:nvGrpSpPr>
          <p:cNvPr id="15" name="object 11">
            <a:extLst>
              <a:ext uri="{FF2B5EF4-FFF2-40B4-BE49-F238E27FC236}">
                <a16:creationId xmlns:a16="http://schemas.microsoft.com/office/drawing/2014/main" id="{37455775-A049-FBB0-E120-D7C528A8CEE1}"/>
              </a:ext>
            </a:extLst>
          </p:cNvPr>
          <p:cNvGrpSpPr/>
          <p:nvPr/>
        </p:nvGrpSpPr>
        <p:grpSpPr>
          <a:xfrm>
            <a:off x="76071" y="2649091"/>
            <a:ext cx="3355975" cy="856615"/>
            <a:chOff x="12953" y="2879598"/>
            <a:chExt cx="3355975" cy="856615"/>
          </a:xfrm>
        </p:grpSpPr>
        <p:pic>
          <p:nvPicPr>
            <p:cNvPr id="16" name="object 12">
              <a:extLst>
                <a:ext uri="{FF2B5EF4-FFF2-40B4-BE49-F238E27FC236}">
                  <a16:creationId xmlns:a16="http://schemas.microsoft.com/office/drawing/2014/main" id="{8B569AF0-22BB-4969-11DB-8B0164FE255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36" y="2887980"/>
              <a:ext cx="3339083" cy="839723"/>
            </a:xfrm>
            <a:prstGeom prst="rect">
              <a:avLst/>
            </a:prstGeom>
          </p:spPr>
        </p:pic>
        <p:sp>
          <p:nvSpPr>
            <p:cNvPr id="17" name="object 13">
              <a:extLst>
                <a:ext uri="{FF2B5EF4-FFF2-40B4-BE49-F238E27FC236}">
                  <a16:creationId xmlns:a16="http://schemas.microsoft.com/office/drawing/2014/main" id="{9F560666-352E-C758-2FF5-28B274B27731}"/>
                </a:ext>
              </a:extLst>
            </p:cNvPr>
            <p:cNvSpPr/>
            <p:nvPr/>
          </p:nvSpPr>
          <p:spPr>
            <a:xfrm>
              <a:off x="16763" y="2883408"/>
              <a:ext cx="3348354" cy="848994"/>
            </a:xfrm>
            <a:custGeom>
              <a:avLst/>
              <a:gdLst/>
              <a:ahLst/>
              <a:cxnLst/>
              <a:rect l="l" t="t" r="r" b="b"/>
              <a:pathLst>
                <a:path w="3348354" h="848995">
                  <a:moveTo>
                    <a:pt x="0" y="0"/>
                  </a:moveTo>
                  <a:lnTo>
                    <a:pt x="3348227" y="0"/>
                  </a:lnTo>
                  <a:lnTo>
                    <a:pt x="3348227" y="848867"/>
                  </a:lnTo>
                  <a:lnTo>
                    <a:pt x="0" y="848867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4">
            <a:extLst>
              <a:ext uri="{FF2B5EF4-FFF2-40B4-BE49-F238E27FC236}">
                <a16:creationId xmlns:a16="http://schemas.microsoft.com/office/drawing/2014/main" id="{5B9A7962-2BB5-C6A9-F0A2-296383E21851}"/>
              </a:ext>
            </a:extLst>
          </p:cNvPr>
          <p:cNvGrpSpPr/>
          <p:nvPr/>
        </p:nvGrpSpPr>
        <p:grpSpPr>
          <a:xfrm>
            <a:off x="69848" y="1291461"/>
            <a:ext cx="3290570" cy="1216660"/>
            <a:chOff x="78485" y="1148333"/>
            <a:chExt cx="3290570" cy="1216660"/>
          </a:xfrm>
        </p:grpSpPr>
        <p:pic>
          <p:nvPicPr>
            <p:cNvPr id="19" name="object 15">
              <a:extLst>
                <a:ext uri="{FF2B5EF4-FFF2-40B4-BE49-F238E27FC236}">
                  <a16:creationId xmlns:a16="http://schemas.microsoft.com/office/drawing/2014/main" id="{E16B6C29-775F-A82C-D37C-CB832F687BB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67" y="1155191"/>
              <a:ext cx="3273551" cy="1202435"/>
            </a:xfrm>
            <a:prstGeom prst="rect">
              <a:avLst/>
            </a:prstGeom>
          </p:spPr>
        </p:pic>
        <p:sp>
          <p:nvSpPr>
            <p:cNvPr id="20" name="object 16">
              <a:extLst>
                <a:ext uri="{FF2B5EF4-FFF2-40B4-BE49-F238E27FC236}">
                  <a16:creationId xmlns:a16="http://schemas.microsoft.com/office/drawing/2014/main" id="{16A32141-DDED-31D4-513C-C323A439B1E1}"/>
                </a:ext>
              </a:extLst>
            </p:cNvPr>
            <p:cNvSpPr/>
            <p:nvPr/>
          </p:nvSpPr>
          <p:spPr>
            <a:xfrm>
              <a:off x="82295" y="1152143"/>
              <a:ext cx="3282950" cy="1209040"/>
            </a:xfrm>
            <a:custGeom>
              <a:avLst/>
              <a:gdLst/>
              <a:ahLst/>
              <a:cxnLst/>
              <a:rect l="l" t="t" r="r" b="b"/>
              <a:pathLst>
                <a:path w="3282950" h="1209039">
                  <a:moveTo>
                    <a:pt x="0" y="0"/>
                  </a:moveTo>
                  <a:lnTo>
                    <a:pt x="3282695" y="0"/>
                  </a:lnTo>
                  <a:lnTo>
                    <a:pt x="3282695" y="1208531"/>
                  </a:lnTo>
                  <a:lnTo>
                    <a:pt x="0" y="1208531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17">
            <a:extLst>
              <a:ext uri="{FF2B5EF4-FFF2-40B4-BE49-F238E27FC236}">
                <a16:creationId xmlns:a16="http://schemas.microsoft.com/office/drawing/2014/main" id="{198D75DB-E455-12DD-3258-C164F7B7C6AA}"/>
              </a:ext>
            </a:extLst>
          </p:cNvPr>
          <p:cNvGrpSpPr/>
          <p:nvPr/>
        </p:nvGrpSpPr>
        <p:grpSpPr>
          <a:xfrm>
            <a:off x="3708590" y="2903918"/>
            <a:ext cx="1681480" cy="690880"/>
            <a:chOff x="3708590" y="2903918"/>
            <a:chExt cx="1681480" cy="690880"/>
          </a:xfrm>
        </p:grpSpPr>
        <p:sp>
          <p:nvSpPr>
            <p:cNvPr id="22" name="object 18">
              <a:extLst>
                <a:ext uri="{FF2B5EF4-FFF2-40B4-BE49-F238E27FC236}">
                  <a16:creationId xmlns:a16="http://schemas.microsoft.com/office/drawing/2014/main" id="{0A2E9153-550C-FBB8-2E5B-BACA36454F7A}"/>
                </a:ext>
              </a:extLst>
            </p:cNvPr>
            <p:cNvSpPr/>
            <p:nvPr/>
          </p:nvSpPr>
          <p:spPr>
            <a:xfrm>
              <a:off x="3713988" y="2909315"/>
              <a:ext cx="1670685" cy="680085"/>
            </a:xfrm>
            <a:custGeom>
              <a:avLst/>
              <a:gdLst/>
              <a:ahLst/>
              <a:cxnLst/>
              <a:rect l="l" t="t" r="r" b="b"/>
              <a:pathLst>
                <a:path w="1670685" h="680085">
                  <a:moveTo>
                    <a:pt x="1557528" y="679704"/>
                  </a:moveTo>
                  <a:lnTo>
                    <a:pt x="114300" y="679704"/>
                  </a:lnTo>
                  <a:lnTo>
                    <a:pt x="70080" y="670869"/>
                  </a:lnTo>
                  <a:lnTo>
                    <a:pt x="33718" y="646747"/>
                  </a:lnTo>
                  <a:lnTo>
                    <a:pt x="9072" y="610909"/>
                  </a:lnTo>
                  <a:lnTo>
                    <a:pt x="0" y="566928"/>
                  </a:lnTo>
                  <a:lnTo>
                    <a:pt x="0" y="114300"/>
                  </a:lnTo>
                  <a:lnTo>
                    <a:pt x="9072" y="69437"/>
                  </a:lnTo>
                  <a:lnTo>
                    <a:pt x="33718" y="33146"/>
                  </a:lnTo>
                  <a:lnTo>
                    <a:pt x="70080" y="8858"/>
                  </a:lnTo>
                  <a:lnTo>
                    <a:pt x="114300" y="0"/>
                  </a:lnTo>
                  <a:lnTo>
                    <a:pt x="1557528" y="0"/>
                  </a:lnTo>
                  <a:lnTo>
                    <a:pt x="1601509" y="8858"/>
                  </a:lnTo>
                  <a:lnTo>
                    <a:pt x="1637347" y="33146"/>
                  </a:lnTo>
                  <a:lnTo>
                    <a:pt x="1661469" y="69437"/>
                  </a:lnTo>
                  <a:lnTo>
                    <a:pt x="1670304" y="114300"/>
                  </a:lnTo>
                  <a:lnTo>
                    <a:pt x="1670304" y="566928"/>
                  </a:lnTo>
                  <a:lnTo>
                    <a:pt x="1661469" y="610909"/>
                  </a:lnTo>
                  <a:lnTo>
                    <a:pt x="1637347" y="646747"/>
                  </a:lnTo>
                  <a:lnTo>
                    <a:pt x="1601509" y="670869"/>
                  </a:lnTo>
                  <a:lnTo>
                    <a:pt x="1557528" y="679704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9">
              <a:extLst>
                <a:ext uri="{FF2B5EF4-FFF2-40B4-BE49-F238E27FC236}">
                  <a16:creationId xmlns:a16="http://schemas.microsoft.com/office/drawing/2014/main" id="{B4F8C602-2D1C-29EC-BE85-361BDA4BA524}"/>
                </a:ext>
              </a:extLst>
            </p:cNvPr>
            <p:cNvSpPr/>
            <p:nvPr/>
          </p:nvSpPr>
          <p:spPr>
            <a:xfrm>
              <a:off x="3713988" y="2909315"/>
              <a:ext cx="1670685" cy="680085"/>
            </a:xfrm>
            <a:custGeom>
              <a:avLst/>
              <a:gdLst/>
              <a:ahLst/>
              <a:cxnLst/>
              <a:rect l="l" t="t" r="r" b="b"/>
              <a:pathLst>
                <a:path w="1670685" h="680085">
                  <a:moveTo>
                    <a:pt x="0" y="114300"/>
                  </a:moveTo>
                  <a:lnTo>
                    <a:pt x="9072" y="69437"/>
                  </a:lnTo>
                  <a:lnTo>
                    <a:pt x="33718" y="33146"/>
                  </a:lnTo>
                  <a:lnTo>
                    <a:pt x="70080" y="8858"/>
                  </a:lnTo>
                  <a:lnTo>
                    <a:pt x="114300" y="0"/>
                  </a:lnTo>
                  <a:lnTo>
                    <a:pt x="1557528" y="0"/>
                  </a:lnTo>
                  <a:lnTo>
                    <a:pt x="1601509" y="8858"/>
                  </a:lnTo>
                  <a:lnTo>
                    <a:pt x="1637347" y="33146"/>
                  </a:lnTo>
                  <a:lnTo>
                    <a:pt x="1661469" y="69437"/>
                  </a:lnTo>
                  <a:lnTo>
                    <a:pt x="1670304" y="114300"/>
                  </a:lnTo>
                  <a:lnTo>
                    <a:pt x="1670304" y="566928"/>
                  </a:lnTo>
                  <a:lnTo>
                    <a:pt x="1661469" y="610909"/>
                  </a:lnTo>
                  <a:lnTo>
                    <a:pt x="1637347" y="646747"/>
                  </a:lnTo>
                  <a:lnTo>
                    <a:pt x="1601509" y="670869"/>
                  </a:lnTo>
                  <a:lnTo>
                    <a:pt x="1557528" y="679704"/>
                  </a:lnTo>
                  <a:lnTo>
                    <a:pt x="114300" y="679704"/>
                  </a:lnTo>
                  <a:lnTo>
                    <a:pt x="70080" y="670869"/>
                  </a:lnTo>
                  <a:lnTo>
                    <a:pt x="33718" y="646747"/>
                  </a:lnTo>
                  <a:lnTo>
                    <a:pt x="9072" y="610909"/>
                  </a:lnTo>
                  <a:lnTo>
                    <a:pt x="0" y="566928"/>
                  </a:lnTo>
                  <a:lnTo>
                    <a:pt x="0" y="114300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0">
            <a:extLst>
              <a:ext uri="{FF2B5EF4-FFF2-40B4-BE49-F238E27FC236}">
                <a16:creationId xmlns:a16="http://schemas.microsoft.com/office/drawing/2014/main" id="{2E2EF3DC-EBAE-5083-26C7-027FD6983EFF}"/>
              </a:ext>
            </a:extLst>
          </p:cNvPr>
          <p:cNvSpPr txBox="1"/>
          <p:nvPr/>
        </p:nvSpPr>
        <p:spPr>
          <a:xfrm>
            <a:off x="3860800" y="3008213"/>
            <a:ext cx="1422400" cy="45634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78460" marR="5080" indent="-366395" algn="ctr">
              <a:lnSpc>
                <a:spcPct val="101600"/>
              </a:lnSpc>
              <a:spcBef>
                <a:spcPts val="90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Calibri"/>
                <a:cs typeface="Calibri"/>
              </a:rPr>
              <a:t>Base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endParaRPr lang="it-IT" sz="1400" spc="-5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378460" marR="5080" indent="-366395" algn="ctr">
              <a:lnSpc>
                <a:spcPct val="101600"/>
              </a:lnSpc>
              <a:spcBef>
                <a:spcPts val="90"/>
              </a:spcBef>
            </a:pPr>
            <a:r>
              <a:rPr sz="1400" spc="15" dirty="0">
                <a:solidFill>
                  <a:srgbClr val="FFFFFF"/>
                </a:solidFill>
                <a:latin typeface="Calibri"/>
                <a:cs typeface="Calibri"/>
              </a:rPr>
              <a:t>n </a:t>
            </a:r>
            <a:r>
              <a:rPr sz="1400" spc="-4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25" name="object 21">
            <a:extLst>
              <a:ext uri="{FF2B5EF4-FFF2-40B4-BE49-F238E27FC236}">
                <a16:creationId xmlns:a16="http://schemas.microsoft.com/office/drawing/2014/main" id="{24414B7A-91D4-9605-9999-A42D371A7F3D}"/>
              </a:ext>
            </a:extLst>
          </p:cNvPr>
          <p:cNvGrpSpPr/>
          <p:nvPr/>
        </p:nvGrpSpPr>
        <p:grpSpPr>
          <a:xfrm>
            <a:off x="3607769" y="3933765"/>
            <a:ext cx="1877695" cy="986155"/>
            <a:chOff x="3576002" y="4040822"/>
            <a:chExt cx="1877695" cy="986155"/>
          </a:xfrm>
        </p:grpSpPr>
        <p:sp>
          <p:nvSpPr>
            <p:cNvPr id="26" name="object 22">
              <a:extLst>
                <a:ext uri="{FF2B5EF4-FFF2-40B4-BE49-F238E27FC236}">
                  <a16:creationId xmlns:a16="http://schemas.microsoft.com/office/drawing/2014/main" id="{47ACBCDB-1A01-D14E-DD1E-77CC842E1198}"/>
                </a:ext>
              </a:extLst>
            </p:cNvPr>
            <p:cNvSpPr/>
            <p:nvPr/>
          </p:nvSpPr>
          <p:spPr>
            <a:xfrm>
              <a:off x="3581400" y="4046220"/>
              <a:ext cx="1866900" cy="975360"/>
            </a:xfrm>
            <a:custGeom>
              <a:avLst/>
              <a:gdLst/>
              <a:ahLst/>
              <a:cxnLst/>
              <a:rect l="l" t="t" r="r" b="b"/>
              <a:pathLst>
                <a:path w="1866900" h="975360">
                  <a:moveTo>
                    <a:pt x="1703832" y="975360"/>
                  </a:moveTo>
                  <a:lnTo>
                    <a:pt x="163068" y="975360"/>
                  </a:lnTo>
                  <a:lnTo>
                    <a:pt x="119768" y="969525"/>
                  </a:lnTo>
                  <a:lnTo>
                    <a:pt x="80828" y="953064"/>
                  </a:lnTo>
                  <a:lnTo>
                    <a:pt x="47815" y="927544"/>
                  </a:lnTo>
                  <a:lnTo>
                    <a:pt x="22295" y="894531"/>
                  </a:lnTo>
                  <a:lnTo>
                    <a:pt x="5834" y="855591"/>
                  </a:lnTo>
                  <a:lnTo>
                    <a:pt x="0" y="812292"/>
                  </a:lnTo>
                  <a:lnTo>
                    <a:pt x="0" y="163068"/>
                  </a:lnTo>
                  <a:lnTo>
                    <a:pt x="5834" y="119768"/>
                  </a:lnTo>
                  <a:lnTo>
                    <a:pt x="22295" y="80828"/>
                  </a:lnTo>
                  <a:lnTo>
                    <a:pt x="47815" y="47815"/>
                  </a:lnTo>
                  <a:lnTo>
                    <a:pt x="80828" y="22295"/>
                  </a:lnTo>
                  <a:lnTo>
                    <a:pt x="119768" y="5834"/>
                  </a:lnTo>
                  <a:lnTo>
                    <a:pt x="163068" y="0"/>
                  </a:lnTo>
                  <a:lnTo>
                    <a:pt x="1703832" y="0"/>
                  </a:lnTo>
                  <a:lnTo>
                    <a:pt x="1747131" y="5834"/>
                  </a:lnTo>
                  <a:lnTo>
                    <a:pt x="1786071" y="22295"/>
                  </a:lnTo>
                  <a:lnTo>
                    <a:pt x="1819084" y="47815"/>
                  </a:lnTo>
                  <a:lnTo>
                    <a:pt x="1844604" y="80828"/>
                  </a:lnTo>
                  <a:lnTo>
                    <a:pt x="1861065" y="119768"/>
                  </a:lnTo>
                  <a:lnTo>
                    <a:pt x="1866900" y="163068"/>
                  </a:lnTo>
                  <a:lnTo>
                    <a:pt x="1866900" y="812292"/>
                  </a:lnTo>
                  <a:lnTo>
                    <a:pt x="1861065" y="855591"/>
                  </a:lnTo>
                  <a:lnTo>
                    <a:pt x="1844604" y="894531"/>
                  </a:lnTo>
                  <a:lnTo>
                    <a:pt x="1819084" y="927544"/>
                  </a:lnTo>
                  <a:lnTo>
                    <a:pt x="1786071" y="953064"/>
                  </a:lnTo>
                  <a:lnTo>
                    <a:pt x="1747131" y="969525"/>
                  </a:lnTo>
                  <a:lnTo>
                    <a:pt x="1703832" y="975360"/>
                  </a:lnTo>
                  <a:close/>
                </a:path>
              </a:pathLst>
            </a:custGeom>
            <a:solidFill>
              <a:srgbClr val="7E6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3">
              <a:extLst>
                <a:ext uri="{FF2B5EF4-FFF2-40B4-BE49-F238E27FC236}">
                  <a16:creationId xmlns:a16="http://schemas.microsoft.com/office/drawing/2014/main" id="{D0C74547-4359-820A-C9EE-AE244D754531}"/>
                </a:ext>
              </a:extLst>
            </p:cNvPr>
            <p:cNvSpPr/>
            <p:nvPr/>
          </p:nvSpPr>
          <p:spPr>
            <a:xfrm>
              <a:off x="3581400" y="4046220"/>
              <a:ext cx="1866900" cy="975360"/>
            </a:xfrm>
            <a:custGeom>
              <a:avLst/>
              <a:gdLst/>
              <a:ahLst/>
              <a:cxnLst/>
              <a:rect l="l" t="t" r="r" b="b"/>
              <a:pathLst>
                <a:path w="1866900" h="975360">
                  <a:moveTo>
                    <a:pt x="0" y="163068"/>
                  </a:moveTo>
                  <a:lnTo>
                    <a:pt x="5834" y="119768"/>
                  </a:lnTo>
                  <a:lnTo>
                    <a:pt x="22295" y="80828"/>
                  </a:lnTo>
                  <a:lnTo>
                    <a:pt x="47815" y="47815"/>
                  </a:lnTo>
                  <a:lnTo>
                    <a:pt x="80828" y="22295"/>
                  </a:lnTo>
                  <a:lnTo>
                    <a:pt x="119768" y="5834"/>
                  </a:lnTo>
                  <a:lnTo>
                    <a:pt x="163068" y="0"/>
                  </a:lnTo>
                  <a:lnTo>
                    <a:pt x="1703832" y="0"/>
                  </a:lnTo>
                  <a:lnTo>
                    <a:pt x="1747131" y="5834"/>
                  </a:lnTo>
                  <a:lnTo>
                    <a:pt x="1786071" y="22295"/>
                  </a:lnTo>
                  <a:lnTo>
                    <a:pt x="1819084" y="47815"/>
                  </a:lnTo>
                  <a:lnTo>
                    <a:pt x="1844604" y="80828"/>
                  </a:lnTo>
                  <a:lnTo>
                    <a:pt x="1861065" y="119768"/>
                  </a:lnTo>
                  <a:lnTo>
                    <a:pt x="1866900" y="163068"/>
                  </a:lnTo>
                  <a:lnTo>
                    <a:pt x="1866900" y="812292"/>
                  </a:lnTo>
                  <a:lnTo>
                    <a:pt x="1861065" y="855591"/>
                  </a:lnTo>
                  <a:lnTo>
                    <a:pt x="1844604" y="894531"/>
                  </a:lnTo>
                  <a:lnTo>
                    <a:pt x="1819084" y="927544"/>
                  </a:lnTo>
                  <a:lnTo>
                    <a:pt x="1786071" y="953064"/>
                  </a:lnTo>
                  <a:lnTo>
                    <a:pt x="1747131" y="969525"/>
                  </a:lnTo>
                  <a:lnTo>
                    <a:pt x="1703832" y="975360"/>
                  </a:lnTo>
                  <a:lnTo>
                    <a:pt x="163068" y="975360"/>
                  </a:lnTo>
                  <a:lnTo>
                    <a:pt x="119768" y="969525"/>
                  </a:lnTo>
                  <a:lnTo>
                    <a:pt x="80828" y="953064"/>
                  </a:lnTo>
                  <a:lnTo>
                    <a:pt x="47815" y="927544"/>
                  </a:lnTo>
                  <a:lnTo>
                    <a:pt x="22295" y="894531"/>
                  </a:lnTo>
                  <a:lnTo>
                    <a:pt x="5834" y="855591"/>
                  </a:lnTo>
                  <a:lnTo>
                    <a:pt x="0" y="812292"/>
                  </a:lnTo>
                  <a:lnTo>
                    <a:pt x="0" y="163068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4">
            <a:extLst>
              <a:ext uri="{FF2B5EF4-FFF2-40B4-BE49-F238E27FC236}">
                <a16:creationId xmlns:a16="http://schemas.microsoft.com/office/drawing/2014/main" id="{59BF0E8F-D27F-739B-99DA-A05978655971}"/>
              </a:ext>
            </a:extLst>
          </p:cNvPr>
          <p:cNvSpPr txBox="1"/>
          <p:nvPr/>
        </p:nvSpPr>
        <p:spPr>
          <a:xfrm>
            <a:off x="3747025" y="4051772"/>
            <a:ext cx="1536065" cy="7501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1499"/>
              </a:lnSpc>
              <a:spcBef>
                <a:spcPts val="95"/>
              </a:spcBef>
            </a:pP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Associate</a:t>
            </a:r>
            <a:r>
              <a:rPr sz="16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Land </a:t>
            </a:r>
            <a:r>
              <a:rPr sz="1600" spc="-4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Cover 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sz="16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Geometry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34" name="object 30">
            <a:extLst>
              <a:ext uri="{FF2B5EF4-FFF2-40B4-BE49-F238E27FC236}">
                <a16:creationId xmlns:a16="http://schemas.microsoft.com/office/drawing/2014/main" id="{2EE6C759-3E14-9709-BFB1-7410A5B35483}"/>
              </a:ext>
            </a:extLst>
          </p:cNvPr>
          <p:cNvGrpSpPr/>
          <p:nvPr/>
        </p:nvGrpSpPr>
        <p:grpSpPr>
          <a:xfrm>
            <a:off x="86568" y="3650485"/>
            <a:ext cx="3280410" cy="959485"/>
            <a:chOff x="151637" y="3993641"/>
            <a:chExt cx="3280410" cy="959485"/>
          </a:xfrm>
        </p:grpSpPr>
        <p:pic>
          <p:nvPicPr>
            <p:cNvPr id="35" name="object 31">
              <a:extLst>
                <a:ext uri="{FF2B5EF4-FFF2-40B4-BE49-F238E27FC236}">
                  <a16:creationId xmlns:a16="http://schemas.microsoft.com/office/drawing/2014/main" id="{2822DC74-2A86-F5AE-1E30-37A116F2298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495" y="4002023"/>
              <a:ext cx="2593847" cy="463295"/>
            </a:xfrm>
            <a:prstGeom prst="rect">
              <a:avLst/>
            </a:prstGeom>
          </p:spPr>
        </p:pic>
        <p:sp>
          <p:nvSpPr>
            <p:cNvPr id="36" name="object 32">
              <a:extLst>
                <a:ext uri="{FF2B5EF4-FFF2-40B4-BE49-F238E27FC236}">
                  <a16:creationId xmlns:a16="http://schemas.microsoft.com/office/drawing/2014/main" id="{944A49A4-9283-0F93-D7FA-01767492EC86}"/>
                </a:ext>
              </a:extLst>
            </p:cNvPr>
            <p:cNvSpPr/>
            <p:nvPr/>
          </p:nvSpPr>
          <p:spPr>
            <a:xfrm>
              <a:off x="155447" y="3997451"/>
              <a:ext cx="2600325" cy="472440"/>
            </a:xfrm>
            <a:custGeom>
              <a:avLst/>
              <a:gdLst/>
              <a:ahLst/>
              <a:cxnLst/>
              <a:rect l="l" t="t" r="r" b="b"/>
              <a:pathLst>
                <a:path w="2600325" h="472439">
                  <a:moveTo>
                    <a:pt x="0" y="0"/>
                  </a:moveTo>
                  <a:lnTo>
                    <a:pt x="2599943" y="0"/>
                  </a:lnTo>
                  <a:lnTo>
                    <a:pt x="2599943" y="472440"/>
                  </a:lnTo>
                  <a:lnTo>
                    <a:pt x="0" y="472440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3">
              <a:extLst>
                <a:ext uri="{FF2B5EF4-FFF2-40B4-BE49-F238E27FC236}">
                  <a16:creationId xmlns:a16="http://schemas.microsoft.com/office/drawing/2014/main" id="{FCF6D16A-ADE5-118C-ACE9-8A095F1274E1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9287" y="4300727"/>
              <a:ext cx="3032759" cy="6522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316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data</a:t>
            </a: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DACDB3F9-DE76-7D2B-2F39-DAD8DC05ADF0}"/>
              </a:ext>
            </a:extLst>
          </p:cNvPr>
          <p:cNvSpPr txBox="1">
            <a:spLocks/>
          </p:cNvSpPr>
          <p:nvPr/>
        </p:nvSpPr>
        <p:spPr>
          <a:xfrm>
            <a:off x="3651009" y="1378526"/>
            <a:ext cx="1446516" cy="373692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5080" indent="234315">
              <a:lnSpc>
                <a:spcPct val="101499"/>
              </a:lnSpc>
              <a:spcBef>
                <a:spcPts val="95"/>
              </a:spcBef>
            </a:pPr>
            <a:r>
              <a:rPr lang="it-IT" sz="1200" dirty="0"/>
              <a:t>Create </a:t>
            </a:r>
            <a:r>
              <a:rPr lang="it-IT" sz="1200" spc="5" dirty="0"/>
              <a:t> Land</a:t>
            </a:r>
            <a:r>
              <a:rPr lang="it-IT" sz="1200" spc="-40" dirty="0"/>
              <a:t> </a:t>
            </a:r>
            <a:r>
              <a:rPr lang="it-IT" sz="1200" dirty="0"/>
              <a:t>Cover</a:t>
            </a:r>
          </a:p>
        </p:txBody>
      </p:sp>
      <p:grpSp>
        <p:nvGrpSpPr>
          <p:cNvPr id="3" name="object 4">
            <a:extLst>
              <a:ext uri="{FF2B5EF4-FFF2-40B4-BE49-F238E27FC236}">
                <a16:creationId xmlns:a16="http://schemas.microsoft.com/office/drawing/2014/main" id="{82274D19-F6EC-A0C8-A4B6-2B042198C984}"/>
              </a:ext>
            </a:extLst>
          </p:cNvPr>
          <p:cNvGrpSpPr/>
          <p:nvPr/>
        </p:nvGrpSpPr>
        <p:grpSpPr>
          <a:xfrm>
            <a:off x="236219" y="1314323"/>
            <a:ext cx="4274820" cy="3622802"/>
            <a:chOff x="4492752" y="1620012"/>
            <a:chExt cx="5509260" cy="5020310"/>
          </a:xfrm>
        </p:grpSpPr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02228F07-6604-1FBA-C27C-EA10A7C957B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2752" y="1620012"/>
              <a:ext cx="5509259" cy="5020055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6B8328F-2657-C6EC-8088-196D09C6E62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1412" y="1807463"/>
              <a:ext cx="1251203" cy="528827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3968824-F571-6733-EB8A-B94F8ABD22A8}"/>
              </a:ext>
            </a:extLst>
          </p:cNvPr>
          <p:cNvSpPr txBox="1"/>
          <p:nvPr/>
        </p:nvSpPr>
        <p:spPr>
          <a:xfrm>
            <a:off x="4632964" y="1382886"/>
            <a:ext cx="46405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spc="-5" dirty="0" err="1">
                <a:latin typeface="Calibri"/>
                <a:cs typeface="Calibri"/>
              </a:rPr>
              <a:t>We</a:t>
            </a:r>
            <a:r>
              <a:rPr lang="it-IT" sz="1800" spc="-5" dirty="0">
                <a:latin typeface="Calibri"/>
                <a:cs typeface="Calibri"/>
              </a:rPr>
              <a:t> </a:t>
            </a:r>
            <a:r>
              <a:rPr lang="it-IT" sz="1800" spc="-5" dirty="0" err="1">
                <a:latin typeface="Calibri"/>
                <a:cs typeface="Calibri"/>
              </a:rPr>
              <a:t>should</a:t>
            </a:r>
            <a:r>
              <a:rPr lang="it-IT" sz="1800" spc="-5" dirty="0">
                <a:latin typeface="Calibri"/>
                <a:cs typeface="Calibri"/>
              </a:rPr>
              <a:t> </a:t>
            </a:r>
            <a:r>
              <a:rPr lang="it-IT" sz="1800" spc="-5" dirty="0" err="1">
                <a:latin typeface="Calibri"/>
                <a:cs typeface="Calibri"/>
              </a:rPr>
              <a:t>have</a:t>
            </a:r>
            <a:r>
              <a:rPr lang="it-IT" sz="1800" spc="-5" dirty="0">
                <a:latin typeface="Calibri"/>
                <a:cs typeface="Calibri"/>
              </a:rPr>
              <a:t> knowledge of ‘standard’ </a:t>
            </a:r>
            <a:r>
              <a:rPr lang="it-IT" sz="1800" spc="-5" dirty="0" err="1">
                <a:latin typeface="Calibri"/>
                <a:cs typeface="Calibri"/>
              </a:rPr>
              <a:t>landuse</a:t>
            </a:r>
            <a:r>
              <a:rPr lang="it-IT" sz="1800" spc="-5" dirty="0">
                <a:latin typeface="Calibri"/>
                <a:cs typeface="Calibri"/>
              </a:rPr>
              <a:t> classes to be </a:t>
            </a:r>
            <a:r>
              <a:rPr lang="it-IT" sz="1800" spc="-5" dirty="0" err="1">
                <a:latin typeface="Calibri"/>
                <a:cs typeface="Calibri"/>
              </a:rPr>
              <a:t>attributed</a:t>
            </a:r>
            <a:r>
              <a:rPr lang="it-IT" sz="1800" spc="-5" dirty="0">
                <a:latin typeface="Calibri"/>
                <a:cs typeface="Calibri"/>
              </a:rPr>
              <a:t> to the </a:t>
            </a:r>
            <a:r>
              <a:rPr lang="it-IT" sz="1800" spc="-5" dirty="0" err="1">
                <a:latin typeface="Calibri"/>
                <a:cs typeface="Calibri"/>
              </a:rPr>
              <a:t>actual</a:t>
            </a:r>
            <a:r>
              <a:rPr lang="it-IT" sz="1800" spc="-5" dirty="0">
                <a:latin typeface="Calibri"/>
                <a:cs typeface="Calibri"/>
              </a:rPr>
              <a:t> </a:t>
            </a:r>
            <a:r>
              <a:rPr lang="it-IT" sz="1800" spc="-5" dirty="0" err="1">
                <a:latin typeface="Calibri"/>
                <a:cs typeface="Calibri"/>
              </a:rPr>
              <a:t>values</a:t>
            </a:r>
            <a:r>
              <a:rPr lang="it-IT" sz="1800" spc="-5" dirty="0">
                <a:latin typeface="Calibri"/>
                <a:cs typeface="Calibri"/>
              </a:rPr>
              <a:t>, in </a:t>
            </a:r>
            <a:r>
              <a:rPr lang="it-IT" sz="1800" spc="-5" dirty="0" err="1">
                <a:latin typeface="Calibri"/>
                <a:cs typeface="Calibri"/>
              </a:rPr>
              <a:t>order</a:t>
            </a:r>
            <a:r>
              <a:rPr lang="it-IT" sz="1800" spc="-5" dirty="0">
                <a:latin typeface="Calibri"/>
                <a:cs typeface="Calibri"/>
              </a:rPr>
              <a:t> to </a:t>
            </a:r>
            <a:r>
              <a:rPr lang="it-IT" sz="1800" spc="-5" dirty="0" err="1">
                <a:latin typeface="Calibri"/>
                <a:cs typeface="Calibri"/>
              </a:rPr>
              <a:t>have</a:t>
            </a:r>
            <a:r>
              <a:rPr lang="it-IT" sz="1800" spc="-5" dirty="0">
                <a:latin typeface="Calibri"/>
                <a:cs typeface="Calibri"/>
              </a:rPr>
              <a:t> </a:t>
            </a:r>
            <a:r>
              <a:rPr lang="it-IT" sz="1800" spc="-5" dirty="0" err="1">
                <a:latin typeface="Calibri"/>
                <a:cs typeface="Calibri"/>
              </a:rPr>
              <a:t>consistent</a:t>
            </a:r>
            <a:r>
              <a:rPr lang="it-IT" sz="1800" spc="-5" dirty="0">
                <a:latin typeface="Calibri"/>
                <a:cs typeface="Calibri"/>
              </a:rPr>
              <a:t> </a:t>
            </a:r>
            <a:r>
              <a:rPr lang="it-IT" sz="1800" spc="-5" dirty="0" err="1">
                <a:latin typeface="Calibri"/>
                <a:cs typeface="Calibri"/>
              </a:rPr>
              <a:t>results</a:t>
            </a:r>
            <a:endParaRPr lang="it-IT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46AC93D-FE82-A72E-2107-DE4D51E25F88}"/>
              </a:ext>
            </a:extLst>
          </p:cNvPr>
          <p:cNvSpPr txBox="1"/>
          <p:nvPr/>
        </p:nvSpPr>
        <p:spPr>
          <a:xfrm>
            <a:off x="4671302" y="2837285"/>
            <a:ext cx="4236479" cy="1823576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01295" indent="-189230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01930" algn="l"/>
              </a:tabLst>
            </a:pPr>
            <a:r>
              <a:rPr sz="1400" spc="5" dirty="0">
                <a:latin typeface="Calibri"/>
                <a:cs typeface="Calibri"/>
              </a:rPr>
              <a:t>New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Raster</a:t>
            </a:r>
            <a:r>
              <a:rPr sz="1400" spc="-10" dirty="0">
                <a:latin typeface="Calibri"/>
                <a:cs typeface="Calibri"/>
              </a:rPr>
              <a:t> is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created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(LandCover.tif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LandCover.hdf)</a:t>
            </a:r>
            <a:endParaRPr sz="1400" dirty="0">
              <a:latin typeface="Calibri"/>
              <a:cs typeface="Calibri"/>
            </a:endParaRPr>
          </a:p>
          <a:p>
            <a:pPr marL="201295" indent="-189230">
              <a:lnSpc>
                <a:spcPct val="100000"/>
              </a:lnSpc>
              <a:spcBef>
                <a:spcPts val="565"/>
              </a:spcBef>
              <a:buFont typeface="Arial"/>
              <a:buChar char="•"/>
              <a:tabLst>
                <a:tab pos="201930" algn="l"/>
              </a:tabLst>
            </a:pPr>
            <a:r>
              <a:rPr sz="1400" spc="-5" dirty="0">
                <a:latin typeface="Calibri"/>
                <a:cs typeface="Calibri"/>
              </a:rPr>
              <a:t>Reprojected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into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coordinate </a:t>
            </a:r>
            <a:r>
              <a:rPr sz="1400" spc="-20" dirty="0">
                <a:latin typeface="Calibri"/>
                <a:cs typeface="Calibri"/>
              </a:rPr>
              <a:t>system</a:t>
            </a:r>
            <a:endParaRPr lang="it-IT" sz="1400" spc="-20" dirty="0">
              <a:latin typeface="Calibri"/>
              <a:cs typeface="Calibri"/>
            </a:endParaRPr>
          </a:p>
          <a:p>
            <a:pPr marL="201295" indent="-189230">
              <a:lnSpc>
                <a:spcPct val="100000"/>
              </a:lnSpc>
              <a:spcBef>
                <a:spcPts val="565"/>
              </a:spcBef>
              <a:buFont typeface="Arial"/>
              <a:buChar char="•"/>
              <a:tabLst>
                <a:tab pos="201930" algn="l"/>
              </a:tabLst>
            </a:pPr>
            <a:endParaRPr lang="it-IT" sz="1400" spc="-20" dirty="0">
              <a:latin typeface="Calibri"/>
              <a:cs typeface="Calibri"/>
            </a:endParaRPr>
          </a:p>
          <a:p>
            <a:pPr marL="12065">
              <a:lnSpc>
                <a:spcPct val="100000"/>
              </a:lnSpc>
              <a:spcBef>
                <a:spcPts val="565"/>
              </a:spcBef>
              <a:tabLst>
                <a:tab pos="201930" algn="l"/>
              </a:tabLst>
            </a:pPr>
            <a:r>
              <a:rPr lang="it-IT" sz="1400" spc="-20" dirty="0" err="1">
                <a:latin typeface="Calibri"/>
                <a:cs typeface="Calibri"/>
              </a:rPr>
              <a:t>As</a:t>
            </a:r>
            <a:r>
              <a:rPr lang="it-IT" sz="1400" spc="-20" dirty="0">
                <a:latin typeface="Calibri"/>
                <a:cs typeface="Calibri"/>
              </a:rPr>
              <a:t> for the </a:t>
            </a:r>
            <a:r>
              <a:rPr lang="it-IT" sz="1400" spc="-20" dirty="0" err="1">
                <a:latin typeface="Calibri"/>
                <a:cs typeface="Calibri"/>
              </a:rPr>
              <a:t>previous</a:t>
            </a:r>
            <a:r>
              <a:rPr lang="it-IT" sz="1400" spc="-20" dirty="0">
                <a:latin typeface="Calibri"/>
                <a:cs typeface="Calibri"/>
              </a:rPr>
              <a:t> </a:t>
            </a:r>
            <a:r>
              <a:rPr lang="it-IT" sz="1400" spc="-20" dirty="0" err="1">
                <a:latin typeface="Calibri"/>
                <a:cs typeface="Calibri"/>
              </a:rPr>
              <a:t>terrain</a:t>
            </a:r>
            <a:r>
              <a:rPr lang="it-IT" sz="1400" spc="-20" dirty="0">
                <a:latin typeface="Calibri"/>
                <a:cs typeface="Calibri"/>
              </a:rPr>
              <a:t> files, </a:t>
            </a:r>
            <a:r>
              <a:rPr lang="it-IT" sz="1400" spc="-20" dirty="0" err="1">
                <a:latin typeface="Calibri"/>
                <a:cs typeface="Calibri"/>
              </a:rPr>
              <a:t>these</a:t>
            </a:r>
            <a:r>
              <a:rPr lang="it-IT" sz="1400" spc="-20" dirty="0">
                <a:latin typeface="Calibri"/>
                <a:cs typeface="Calibri"/>
              </a:rPr>
              <a:t> files are </a:t>
            </a:r>
            <a:r>
              <a:rPr lang="it-IT" sz="1400" spc="-20" dirty="0" err="1">
                <a:latin typeface="Calibri"/>
                <a:cs typeface="Calibri"/>
              </a:rPr>
              <a:t>technically</a:t>
            </a:r>
            <a:r>
              <a:rPr lang="it-IT" sz="1400" spc="-20" dirty="0">
                <a:latin typeface="Calibri"/>
                <a:cs typeface="Calibri"/>
              </a:rPr>
              <a:t> </a:t>
            </a:r>
            <a:r>
              <a:rPr lang="it-IT" sz="1400" spc="-20" dirty="0" err="1">
                <a:latin typeface="Calibri"/>
                <a:cs typeface="Calibri"/>
              </a:rPr>
              <a:t>not</a:t>
            </a:r>
            <a:r>
              <a:rPr lang="it-IT" sz="1400" spc="-20" dirty="0">
                <a:latin typeface="Calibri"/>
                <a:cs typeface="Calibri"/>
              </a:rPr>
              <a:t> </a:t>
            </a:r>
            <a:r>
              <a:rPr lang="it-IT" sz="1400" spc="-20" dirty="0" err="1">
                <a:latin typeface="Calibri"/>
                <a:cs typeface="Calibri"/>
              </a:rPr>
              <a:t>used</a:t>
            </a:r>
            <a:r>
              <a:rPr lang="it-IT" sz="1400" spc="-20" dirty="0">
                <a:latin typeface="Calibri"/>
                <a:cs typeface="Calibri"/>
              </a:rPr>
              <a:t> by the </a:t>
            </a:r>
            <a:r>
              <a:rPr lang="it-IT" sz="1400" spc="-20" dirty="0" err="1">
                <a:latin typeface="Calibri"/>
                <a:cs typeface="Calibri"/>
              </a:rPr>
              <a:t>linux</a:t>
            </a:r>
            <a:r>
              <a:rPr lang="it-IT" sz="1400" spc="-20" dirty="0">
                <a:latin typeface="Calibri"/>
                <a:cs typeface="Calibri"/>
              </a:rPr>
              <a:t> system. But the information  </a:t>
            </a:r>
            <a:r>
              <a:rPr lang="it-IT" sz="1400" spc="-20" dirty="0" err="1">
                <a:latin typeface="Calibri"/>
                <a:cs typeface="Calibri"/>
              </a:rPr>
              <a:t>loaded</a:t>
            </a:r>
            <a:r>
              <a:rPr lang="it-IT" sz="1400" spc="-20" dirty="0">
                <a:latin typeface="Calibri"/>
                <a:cs typeface="Calibri"/>
              </a:rPr>
              <a:t> in </a:t>
            </a:r>
            <a:r>
              <a:rPr lang="it-IT" sz="1400" spc="-20" dirty="0" err="1">
                <a:latin typeface="Calibri"/>
                <a:cs typeface="Calibri"/>
              </a:rPr>
              <a:t>hecras</a:t>
            </a:r>
            <a:r>
              <a:rPr lang="it-IT" sz="1400" spc="-20" dirty="0">
                <a:latin typeface="Calibri"/>
                <a:cs typeface="Calibri"/>
              </a:rPr>
              <a:t> </a:t>
            </a:r>
            <a:r>
              <a:rPr lang="it-IT" sz="1400" spc="-20" dirty="0" err="1">
                <a:latin typeface="Calibri"/>
                <a:cs typeface="Calibri"/>
              </a:rPr>
              <a:t>is</a:t>
            </a:r>
            <a:r>
              <a:rPr lang="it-IT" sz="1400" spc="-20" dirty="0">
                <a:latin typeface="Calibri"/>
                <a:cs typeface="Calibri"/>
              </a:rPr>
              <a:t> </a:t>
            </a:r>
            <a:r>
              <a:rPr lang="it-IT" sz="1400" spc="-20" dirty="0" err="1">
                <a:latin typeface="Calibri"/>
                <a:cs typeface="Calibri"/>
              </a:rPr>
              <a:t>stored</a:t>
            </a:r>
            <a:r>
              <a:rPr lang="it-IT" sz="1400" spc="-20" dirty="0">
                <a:latin typeface="Calibri"/>
                <a:cs typeface="Calibri"/>
              </a:rPr>
              <a:t> </a:t>
            </a:r>
            <a:r>
              <a:rPr lang="it-IT" sz="1400" spc="-20" dirty="0" err="1">
                <a:latin typeface="Calibri"/>
                <a:cs typeface="Calibri"/>
              </a:rPr>
              <a:t>at</a:t>
            </a:r>
            <a:r>
              <a:rPr lang="it-IT" sz="1400" spc="-20" dirty="0">
                <a:latin typeface="Calibri"/>
                <a:cs typeface="Calibri"/>
              </a:rPr>
              <a:t> the </a:t>
            </a:r>
            <a:r>
              <a:rPr lang="it-IT" sz="1400" spc="-20" dirty="0" err="1">
                <a:latin typeface="Calibri"/>
                <a:cs typeface="Calibri"/>
              </a:rPr>
              <a:t>cell</a:t>
            </a:r>
            <a:r>
              <a:rPr lang="it-IT" sz="1400" spc="-20" dirty="0">
                <a:latin typeface="Calibri"/>
                <a:cs typeface="Calibri"/>
              </a:rPr>
              <a:t> center for </a:t>
            </a:r>
            <a:r>
              <a:rPr lang="it-IT" sz="1400" spc="-20" dirty="0" err="1">
                <a:latin typeface="Calibri"/>
                <a:cs typeface="Calibri"/>
              </a:rPr>
              <a:t>each</a:t>
            </a:r>
            <a:r>
              <a:rPr lang="it-IT" sz="1400" spc="-20" dirty="0">
                <a:latin typeface="Calibri"/>
                <a:cs typeface="Calibri"/>
              </a:rPr>
              <a:t> mesh area, and embedded in the .</a:t>
            </a:r>
            <a:r>
              <a:rPr lang="it-IT" sz="1400" spc="-20" dirty="0" err="1">
                <a:latin typeface="Calibri"/>
                <a:cs typeface="Calibri"/>
              </a:rPr>
              <a:t>hdf</a:t>
            </a:r>
            <a:r>
              <a:rPr lang="it-IT" sz="1400" spc="-20" dirty="0">
                <a:latin typeface="Calibri"/>
                <a:cs typeface="Calibri"/>
              </a:rPr>
              <a:t> file under the </a:t>
            </a:r>
            <a:r>
              <a:rPr lang="it-IT" sz="1400" spc="-20" dirty="0" err="1">
                <a:latin typeface="Calibri"/>
                <a:cs typeface="Calibri"/>
              </a:rPr>
              <a:t>umbrella</a:t>
            </a:r>
            <a:r>
              <a:rPr lang="it-IT" sz="1400" spc="-20" dirty="0">
                <a:latin typeface="Calibri"/>
                <a:cs typeface="Calibri"/>
              </a:rPr>
              <a:t> ‘</a:t>
            </a:r>
            <a:r>
              <a:rPr lang="it-IT" sz="1400" spc="-20" dirty="0" err="1">
                <a:latin typeface="Calibri"/>
                <a:cs typeface="Calibri"/>
              </a:rPr>
              <a:t>geometry</a:t>
            </a:r>
            <a:r>
              <a:rPr lang="it-IT" sz="1400" spc="-20" dirty="0">
                <a:latin typeface="Calibri"/>
                <a:cs typeface="Calibri"/>
              </a:rPr>
              <a:t>’</a:t>
            </a:r>
            <a:endParaRPr sz="1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289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Associating </a:t>
            </a:r>
            <a:r>
              <a:rPr lang="en-US" dirty="0" err="1"/>
              <a:t>Mannings</a:t>
            </a:r>
            <a:r>
              <a:rPr lang="en-US" dirty="0"/>
              <a:t>’ values</a:t>
            </a: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DACDB3F9-DE76-7D2B-2F39-DAD8DC05ADF0}"/>
              </a:ext>
            </a:extLst>
          </p:cNvPr>
          <p:cNvSpPr txBox="1">
            <a:spLocks/>
          </p:cNvSpPr>
          <p:nvPr/>
        </p:nvSpPr>
        <p:spPr>
          <a:xfrm>
            <a:off x="3651009" y="1378526"/>
            <a:ext cx="1446516" cy="373692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5080" indent="234315">
              <a:lnSpc>
                <a:spcPct val="101499"/>
              </a:lnSpc>
              <a:spcBef>
                <a:spcPts val="95"/>
              </a:spcBef>
            </a:pPr>
            <a:r>
              <a:rPr lang="it-IT" sz="1200" dirty="0"/>
              <a:t>Create </a:t>
            </a:r>
            <a:r>
              <a:rPr lang="it-IT" sz="1200" spc="5" dirty="0"/>
              <a:t> Land</a:t>
            </a:r>
            <a:r>
              <a:rPr lang="it-IT" sz="1200" spc="-40" dirty="0"/>
              <a:t> </a:t>
            </a:r>
            <a:r>
              <a:rPr lang="it-IT" sz="1200" dirty="0"/>
              <a:t>Cover</a:t>
            </a: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2FC1380F-9A93-72EE-FC0F-4AA12654A0B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729" y="1382886"/>
            <a:ext cx="3383280" cy="2223516"/>
          </a:xfrm>
          <a:prstGeom prst="rect">
            <a:avLst/>
          </a:prstGeom>
        </p:spPr>
      </p:pic>
      <p:pic>
        <p:nvPicPr>
          <p:cNvPr id="10" name="object 6">
            <a:extLst>
              <a:ext uri="{FF2B5EF4-FFF2-40B4-BE49-F238E27FC236}">
                <a16:creationId xmlns:a16="http://schemas.microsoft.com/office/drawing/2014/main" id="{B0ED3227-6586-0C51-B5C1-815E43CD312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0773" y="2306216"/>
            <a:ext cx="2846831" cy="274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564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Associating </a:t>
            </a:r>
            <a:r>
              <a:rPr lang="en-US" dirty="0" err="1"/>
              <a:t>Mannings</a:t>
            </a:r>
            <a:r>
              <a:rPr lang="en-US" dirty="0"/>
              <a:t>’ values</a:t>
            </a: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DACDB3F9-DE76-7D2B-2F39-DAD8DC05ADF0}"/>
              </a:ext>
            </a:extLst>
          </p:cNvPr>
          <p:cNvSpPr txBox="1">
            <a:spLocks/>
          </p:cNvSpPr>
          <p:nvPr/>
        </p:nvSpPr>
        <p:spPr>
          <a:xfrm>
            <a:off x="3651009" y="1378526"/>
            <a:ext cx="1446516" cy="373692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5080" indent="234315">
              <a:lnSpc>
                <a:spcPct val="101499"/>
              </a:lnSpc>
              <a:spcBef>
                <a:spcPts val="95"/>
              </a:spcBef>
            </a:pPr>
            <a:r>
              <a:rPr lang="it-IT" sz="1200" dirty="0"/>
              <a:t>Create </a:t>
            </a:r>
            <a:r>
              <a:rPr lang="it-IT" sz="1200" spc="5" dirty="0"/>
              <a:t> Land</a:t>
            </a:r>
            <a:r>
              <a:rPr lang="it-IT" sz="1200" spc="-40" dirty="0"/>
              <a:t> </a:t>
            </a:r>
            <a:r>
              <a:rPr lang="it-IT" sz="1200" dirty="0"/>
              <a:t>Cover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2E908-B2AC-A2E2-EFF9-A6B36DA89D47}"/>
              </a:ext>
            </a:extLst>
          </p:cNvPr>
          <p:cNvSpPr txBox="1"/>
          <p:nvPr/>
        </p:nvSpPr>
        <p:spPr>
          <a:xfrm>
            <a:off x="5383529" y="2376331"/>
            <a:ext cx="33032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Surface Roughness and Manning’s ‘n’ Table as suggested for </a:t>
            </a:r>
            <a:r>
              <a:rPr lang="en-US" dirty="0" err="1"/>
              <a:t>HECRas</a:t>
            </a:r>
            <a:r>
              <a:rPr lang="en-US" dirty="0"/>
              <a:t>, based on NLCD land cover types</a:t>
            </a:r>
            <a:endParaRPr lang="it-IT" dirty="0"/>
          </a:p>
        </p:txBody>
      </p:sp>
      <p:pic>
        <p:nvPicPr>
          <p:cNvPr id="1026" name="Picture 2" descr="Manning's n (Roughness Coefficient) for HEC-RAS 2D Modeling – RASHMS.COM">
            <a:extLst>
              <a:ext uri="{FF2B5EF4-FFF2-40B4-BE49-F238E27FC236}">
                <a16:creationId xmlns:a16="http://schemas.microsoft.com/office/drawing/2014/main" id="{D2EEBC9D-8D78-4E91-42C7-3120847CE5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85"/>
          <a:stretch/>
        </p:blipFill>
        <p:spPr bwMode="auto">
          <a:xfrm>
            <a:off x="305187" y="1378526"/>
            <a:ext cx="4960938" cy="3299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453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Associating </a:t>
            </a:r>
            <a:r>
              <a:rPr lang="en-US" dirty="0" err="1"/>
              <a:t>Mannings</a:t>
            </a:r>
            <a:r>
              <a:rPr lang="en-US" dirty="0"/>
              <a:t>’ values</a:t>
            </a: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DACDB3F9-DE76-7D2B-2F39-DAD8DC05ADF0}"/>
              </a:ext>
            </a:extLst>
          </p:cNvPr>
          <p:cNvSpPr txBox="1">
            <a:spLocks/>
          </p:cNvSpPr>
          <p:nvPr/>
        </p:nvSpPr>
        <p:spPr>
          <a:xfrm>
            <a:off x="3651009" y="1378526"/>
            <a:ext cx="1446516" cy="373692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5080" indent="234315">
              <a:lnSpc>
                <a:spcPct val="101499"/>
              </a:lnSpc>
              <a:spcBef>
                <a:spcPts val="95"/>
              </a:spcBef>
            </a:pPr>
            <a:r>
              <a:rPr lang="it-IT" sz="1200" dirty="0"/>
              <a:t>Create </a:t>
            </a:r>
            <a:r>
              <a:rPr lang="it-IT" sz="1200" spc="5" dirty="0"/>
              <a:t> Land</a:t>
            </a:r>
            <a:r>
              <a:rPr lang="it-IT" sz="1200" spc="-40" dirty="0"/>
              <a:t> </a:t>
            </a:r>
            <a:r>
              <a:rPr lang="it-IT" sz="1200" dirty="0"/>
              <a:t>Cover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10703222-7FE7-2D89-B432-54AE8AC7C92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995" y="2639233"/>
            <a:ext cx="7859005" cy="1269828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31C7607-11FB-13DA-C354-168D4543C9E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995" y="1520006"/>
            <a:ext cx="4213861" cy="857250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C0BEEE08-ED09-9115-E2F2-9E46E50D593D}"/>
              </a:ext>
            </a:extLst>
          </p:cNvPr>
          <p:cNvSpPr txBox="1"/>
          <p:nvPr/>
        </p:nvSpPr>
        <p:spPr>
          <a:xfrm>
            <a:off x="2546106" y="4171038"/>
            <a:ext cx="3875404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5" dirty="0">
                <a:latin typeface="Calibri"/>
                <a:cs typeface="Calibri"/>
              </a:rPr>
              <a:t>This</a:t>
            </a:r>
            <a:r>
              <a:rPr sz="1450" spc="10" dirty="0">
                <a:latin typeface="Calibri"/>
                <a:cs typeface="Calibri"/>
              </a:rPr>
              <a:t> is </a:t>
            </a:r>
            <a:r>
              <a:rPr sz="1450" spc="15" dirty="0">
                <a:latin typeface="Calibri"/>
                <a:cs typeface="Calibri"/>
              </a:rPr>
              <a:t>a</a:t>
            </a:r>
            <a:r>
              <a:rPr sz="1450" spc="20" dirty="0">
                <a:latin typeface="Calibri"/>
                <a:cs typeface="Calibri"/>
              </a:rPr>
              <a:t> </a:t>
            </a:r>
            <a:r>
              <a:rPr sz="1450" spc="10" dirty="0">
                <a:latin typeface="Calibri"/>
                <a:cs typeface="Calibri"/>
              </a:rPr>
              <a:t>commonly </a:t>
            </a:r>
            <a:r>
              <a:rPr sz="1450" spc="5" dirty="0">
                <a:latin typeface="Calibri"/>
                <a:cs typeface="Calibri"/>
              </a:rPr>
              <a:t>overlooked</a:t>
            </a:r>
            <a:r>
              <a:rPr sz="1450" spc="40" dirty="0">
                <a:latin typeface="Calibri"/>
                <a:cs typeface="Calibri"/>
              </a:rPr>
              <a:t> </a:t>
            </a:r>
            <a:r>
              <a:rPr sz="1450" spc="10" dirty="0">
                <a:latin typeface="Calibri"/>
                <a:cs typeface="Calibri"/>
              </a:rPr>
              <a:t>step</a:t>
            </a:r>
            <a:r>
              <a:rPr sz="1450" spc="-25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for</a:t>
            </a:r>
            <a:r>
              <a:rPr sz="1450" spc="20" dirty="0">
                <a:latin typeface="Calibri"/>
                <a:cs typeface="Calibri"/>
              </a:rPr>
              <a:t> </a:t>
            </a:r>
            <a:r>
              <a:rPr sz="1450" spc="10" dirty="0">
                <a:latin typeface="Calibri"/>
                <a:cs typeface="Calibri"/>
              </a:rPr>
              <a:t>new</a:t>
            </a:r>
            <a:r>
              <a:rPr sz="1450" spc="35" dirty="0">
                <a:latin typeface="Calibri"/>
                <a:cs typeface="Calibri"/>
              </a:rPr>
              <a:t> </a:t>
            </a:r>
            <a:r>
              <a:rPr sz="1450" spc="5" dirty="0">
                <a:latin typeface="Calibri"/>
                <a:cs typeface="Calibri"/>
              </a:rPr>
              <a:t>users.</a:t>
            </a:r>
            <a:endParaRPr sz="145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9977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I don’t have any?</a:t>
            </a: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DACDB3F9-DE76-7D2B-2F39-DAD8DC05ADF0}"/>
              </a:ext>
            </a:extLst>
          </p:cNvPr>
          <p:cNvSpPr txBox="1">
            <a:spLocks/>
          </p:cNvSpPr>
          <p:nvPr/>
        </p:nvSpPr>
        <p:spPr>
          <a:xfrm>
            <a:off x="3651009" y="1378526"/>
            <a:ext cx="1446516" cy="373692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marR="5080" indent="234315">
              <a:lnSpc>
                <a:spcPct val="101499"/>
              </a:lnSpc>
              <a:spcBef>
                <a:spcPts val="95"/>
              </a:spcBef>
            </a:pPr>
            <a:r>
              <a:rPr lang="it-IT" sz="1200" dirty="0"/>
              <a:t>Create </a:t>
            </a:r>
            <a:r>
              <a:rPr lang="it-IT" sz="1200" spc="5" dirty="0"/>
              <a:t> Land</a:t>
            </a:r>
            <a:r>
              <a:rPr lang="it-IT" sz="1200" spc="-40" dirty="0"/>
              <a:t> </a:t>
            </a:r>
            <a:r>
              <a:rPr lang="it-IT" sz="1200" dirty="0"/>
              <a:t>Cover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D0E71E4-77CB-E35E-F9CF-5A8000988CFE}"/>
              </a:ext>
            </a:extLst>
          </p:cNvPr>
          <p:cNvSpPr txBox="1"/>
          <p:nvPr/>
        </p:nvSpPr>
        <p:spPr>
          <a:xfrm>
            <a:off x="457200" y="1368829"/>
            <a:ext cx="8479155" cy="1105174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01295" marR="5080" indent="-189230">
              <a:lnSpc>
                <a:spcPts val="2500"/>
              </a:lnSpc>
              <a:spcBef>
                <a:spcPts val="415"/>
              </a:spcBef>
              <a:buFont typeface="Arial"/>
              <a:buChar char="•"/>
              <a:tabLst>
                <a:tab pos="201930" algn="l"/>
              </a:tabLst>
            </a:pPr>
            <a:r>
              <a:rPr sz="1600" dirty="0">
                <a:latin typeface="Calibri"/>
                <a:cs typeface="Calibri"/>
              </a:rPr>
              <a:t>If </a:t>
            </a:r>
            <a:r>
              <a:rPr sz="1600" spc="-5" dirty="0">
                <a:latin typeface="Calibri"/>
                <a:cs typeface="Calibri"/>
              </a:rPr>
              <a:t>you</a:t>
            </a:r>
            <a:r>
              <a:rPr sz="1600" dirty="0">
                <a:latin typeface="Calibri"/>
                <a:cs typeface="Calibri"/>
              </a:rPr>
              <a:t> don’t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have</a:t>
            </a:r>
            <a:r>
              <a:rPr sz="1600" spc="-5" dirty="0">
                <a:latin typeface="Calibri"/>
                <a:cs typeface="Calibri"/>
              </a:rPr>
              <a:t> land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cover </a:t>
            </a:r>
            <a:r>
              <a:rPr sz="1600" spc="-10" dirty="0">
                <a:latin typeface="Calibri"/>
                <a:cs typeface="Calibri"/>
              </a:rPr>
              <a:t>data, </a:t>
            </a:r>
            <a:r>
              <a:rPr sz="1600" spc="-5" dirty="0">
                <a:latin typeface="Calibri"/>
                <a:cs typeface="Calibri"/>
              </a:rPr>
              <a:t>you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can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create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an </a:t>
            </a:r>
            <a:r>
              <a:rPr sz="1600" dirty="0">
                <a:latin typeface="Calibri"/>
                <a:cs typeface="Calibri"/>
              </a:rPr>
              <a:t>Empty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land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cover </a:t>
            </a:r>
            <a:r>
              <a:rPr sz="1600" spc="-50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dataset.</a:t>
            </a:r>
            <a:endParaRPr sz="1600" dirty="0">
              <a:latin typeface="Calibri"/>
              <a:cs typeface="Calibri"/>
            </a:endParaRPr>
          </a:p>
          <a:p>
            <a:pPr marL="201295" marR="416559" indent="-189230">
              <a:lnSpc>
                <a:spcPts val="2500"/>
              </a:lnSpc>
              <a:spcBef>
                <a:spcPts val="819"/>
              </a:spcBef>
              <a:buFont typeface="Arial"/>
              <a:buChar char="•"/>
              <a:tabLst>
                <a:tab pos="201930" algn="l"/>
              </a:tabLst>
            </a:pPr>
            <a:r>
              <a:rPr sz="1600" spc="-10" dirty="0">
                <a:latin typeface="Calibri"/>
                <a:cs typeface="Calibri"/>
              </a:rPr>
              <a:t>Create </a:t>
            </a:r>
            <a:r>
              <a:rPr sz="1600" spc="-5" dirty="0">
                <a:latin typeface="Calibri"/>
                <a:cs typeface="Calibri"/>
              </a:rPr>
              <a:t>Classification Polygons </a:t>
            </a:r>
            <a:r>
              <a:rPr sz="1600" spc="-15" dirty="0">
                <a:latin typeface="Calibri"/>
                <a:cs typeface="Calibri"/>
              </a:rPr>
              <a:t>for </a:t>
            </a:r>
            <a:r>
              <a:rPr sz="1600" spc="5" dirty="0">
                <a:latin typeface="Calibri"/>
                <a:cs typeface="Calibri"/>
              </a:rPr>
              <a:t>each </a:t>
            </a:r>
            <a:r>
              <a:rPr sz="1600" spc="-5" dirty="0">
                <a:latin typeface="Calibri"/>
                <a:cs typeface="Calibri"/>
              </a:rPr>
              <a:t>area using </a:t>
            </a:r>
            <a:r>
              <a:rPr sz="1600" spc="5" dirty="0">
                <a:latin typeface="Calibri"/>
                <a:cs typeface="Calibri"/>
              </a:rPr>
              <a:t>the </a:t>
            </a:r>
            <a:r>
              <a:rPr sz="1600" spc="10" dirty="0">
                <a:latin typeface="Calibri"/>
                <a:cs typeface="Calibri"/>
              </a:rPr>
              <a:t>RAS </a:t>
            </a:r>
            <a:r>
              <a:rPr sz="1600" spc="5" dirty="0">
                <a:latin typeface="Calibri"/>
                <a:cs typeface="Calibri"/>
              </a:rPr>
              <a:t>Mapper </a:t>
            </a:r>
            <a:r>
              <a:rPr sz="1600" spc="-50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Editing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Tools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 </a:t>
            </a:r>
            <a:r>
              <a:rPr sz="1600" spc="-20" dirty="0">
                <a:latin typeface="Calibri"/>
                <a:cs typeface="Calibri"/>
              </a:rPr>
              <a:t>Web</a:t>
            </a:r>
            <a:r>
              <a:rPr sz="1600" dirty="0">
                <a:latin typeface="Calibri"/>
                <a:cs typeface="Calibri"/>
              </a:rPr>
              <a:t> Imagery</a:t>
            </a: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647ED8F7-521E-2D80-D480-01E7152BE1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5709" y="2474003"/>
            <a:ext cx="6451091" cy="226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804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" y="132888"/>
            <a:ext cx="6172200" cy="68672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10001">
              <a:spcBef>
                <a:spcPts val="75"/>
              </a:spcBef>
            </a:pPr>
            <a:r>
              <a:rPr spc="-4" dirty="0"/>
              <a:t>Que</a:t>
            </a:r>
            <a:r>
              <a:rPr spc="-56" dirty="0"/>
              <a:t>s</a:t>
            </a:r>
            <a:r>
              <a:rPr dirty="0"/>
              <a:t>tions?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20659" y="4818650"/>
            <a:ext cx="134779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4" dirty="0">
                <a:solidFill>
                  <a:srgbClr val="888888"/>
                </a:solidFill>
                <a:latin typeface="Calibri"/>
                <a:cs typeface="Calibri"/>
              </a:rPr>
              <a:t>33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-bluebar-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white-bluebar-template.potx</Template>
  <TotalTime>929</TotalTime>
  <Words>382</Words>
  <Application>Microsoft Office PowerPoint</Application>
  <PresentationFormat>On-screen Show (16:9)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white-bluebar-template</vt:lpstr>
      <vt:lpstr>1_Custom Design</vt:lpstr>
      <vt:lpstr>Custom Design</vt:lpstr>
      <vt:lpstr>PowerPoint Presentation</vt:lpstr>
      <vt:lpstr>Overview</vt:lpstr>
      <vt:lpstr>Application</vt:lpstr>
      <vt:lpstr>Application</vt:lpstr>
      <vt:lpstr>Data sources</vt:lpstr>
      <vt:lpstr>Importing data</vt:lpstr>
      <vt:lpstr>Importing data</vt:lpstr>
      <vt:lpstr>Associating Mannings’ values</vt:lpstr>
      <vt:lpstr>Associating Mannings’ values</vt:lpstr>
      <vt:lpstr>Associating Mannings’ values</vt:lpstr>
      <vt:lpstr>What if I don’t have any?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Consorzio Leb</cp:lastModifiedBy>
  <cp:revision>81</cp:revision>
  <dcterms:created xsi:type="dcterms:W3CDTF">2010-04-12T23:12:02Z</dcterms:created>
  <dcterms:modified xsi:type="dcterms:W3CDTF">2023-07-17T09:18:44Z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