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  <p:sldMasterId id="2147493479" r:id="rId5"/>
    <p:sldMasterId id="2147493467" r:id="rId6"/>
  </p:sldMasterIdLst>
  <p:handoutMasterIdLst>
    <p:handoutMasterId r:id="rId13"/>
  </p:handoutMasterIdLst>
  <p:sldIdLst>
    <p:sldId id="259" r:id="rId7"/>
    <p:sldId id="294" r:id="rId8"/>
    <p:sldId id="297" r:id="rId9"/>
    <p:sldId id="298" r:id="rId10"/>
    <p:sldId id="299" r:id="rId11"/>
    <p:sldId id="295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938"/>
    <a:srgbClr val="002868"/>
    <a:srgbClr val="100E42"/>
    <a:srgbClr val="100E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89" autoAdjust="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354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0BE6C-4C0C-8046-BBFD-371AD798216A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EFCB1-D51F-8E41-88AA-D42180F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09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B3CC-F982-40F9-8DD6-BCC9AFBF44BD}" type="datetime1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95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Heading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4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44277"/>
            <a:ext cx="4038600" cy="3394075"/>
          </a:xfrm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44277"/>
            <a:ext cx="4038600" cy="3394075"/>
          </a:xfrm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4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>
            <a:normAutofit/>
          </a:bodyPr>
          <a:lstStyle>
            <a:lvl1pPr>
              <a:defRPr sz="1800">
                <a:latin typeface="Arial"/>
                <a:cs typeface="Arial"/>
              </a:defRPr>
            </a:lvl1pPr>
            <a:lvl2pPr>
              <a:defRPr sz="18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>
            <a:normAutofit/>
          </a:bodyPr>
          <a:lstStyle>
            <a:lvl1pPr>
              <a:defRPr sz="1800">
                <a:latin typeface="Arial"/>
                <a:cs typeface="Arial"/>
              </a:defRPr>
            </a:lvl1pPr>
            <a:lvl2pPr>
              <a:defRPr sz="18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62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6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1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91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47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4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98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88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98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97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97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3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485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07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25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9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835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4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560D-EC28-3B41-86E8-18F1CE0113B4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91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34325" y="0"/>
            <a:ext cx="9178325" cy="1200150"/>
          </a:xfrm>
          <a:prstGeom prst="rect">
            <a:avLst/>
          </a:prstGeom>
          <a:solidFill>
            <a:srgbClr val="100E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4277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83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81" r:id="rId1"/>
    <p:sldLayoutId id="2147493483" r:id="rId2"/>
    <p:sldLayoutId id="2147493484" r:id="rId3"/>
    <p:sldLayoutId id="2147493485" r:id="rId4"/>
    <p:sldLayoutId id="2147493486" r:id="rId5"/>
    <p:sldLayoutId id="2147493487" r:id="rId6"/>
    <p:sldLayoutId id="2147493488" r:id="rId7"/>
    <p:sldLayoutId id="2147493489" r:id="rId8"/>
    <p:sldLayoutId id="2147493490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0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0" r:id="rId3"/>
    <p:sldLayoutId id="2147493471" r:id="rId4"/>
    <p:sldLayoutId id="2147493472" r:id="rId5"/>
    <p:sldLayoutId id="2147493473" r:id="rId6"/>
    <p:sldLayoutId id="2147493474" r:id="rId7"/>
    <p:sldLayoutId id="2147493475" r:id="rId8"/>
    <p:sldLayoutId id="2147493476" r:id="rId9"/>
    <p:sldLayoutId id="2147493477" r:id="rId10"/>
    <p:sldLayoutId id="214749347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66813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2048828" marR="3810" indent="-2039779">
              <a:lnSpc>
                <a:spcPts val="4860"/>
              </a:lnSpc>
              <a:spcBef>
                <a:spcPts val="686"/>
              </a:spcBef>
            </a:pPr>
            <a:r>
              <a:rPr lang="en-US" sz="4400" spc="-8" dirty="0">
                <a:solidFill>
                  <a:schemeClr val="tx1"/>
                </a:solidFill>
                <a:latin typeface="Calibri Light"/>
                <a:cs typeface="Calibri Light"/>
              </a:rPr>
              <a:t>The NCM system</a:t>
            </a:r>
            <a:endParaRPr lang="en-US" sz="4400" dirty="0">
              <a:solidFill>
                <a:schemeClr val="tx1"/>
              </a:solidFill>
              <a:latin typeface="Calibri Light"/>
              <a:cs typeface="Calibri Light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3918801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Giulia Sofia, PhD</a:t>
            </a:r>
          </a:p>
        </p:txBody>
      </p:sp>
    </p:spTree>
    <p:extLst>
      <p:ext uri="{BB962C8B-B14F-4D97-AF65-F5344CB8AC3E}">
        <p14:creationId xmlns:p14="http://schemas.microsoft.com/office/powerpoint/2010/main" val="44067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13288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10001">
              <a:spcBef>
                <a:spcPts val="75"/>
              </a:spcBef>
            </a:pPr>
            <a:r>
              <a:rPr lang="it-IT" spc="-4" dirty="0"/>
              <a:t>Key features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320659" y="4818650"/>
            <a:ext cx="134779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4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9BA97-578C-16D4-49CF-F298DD6CCF72}"/>
              </a:ext>
            </a:extLst>
          </p:cNvPr>
          <p:cNvSpPr txBox="1"/>
          <p:nvPr/>
        </p:nvSpPr>
        <p:spPr>
          <a:xfrm>
            <a:off x="4857568" y="1242792"/>
            <a:ext cx="3597870" cy="362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5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NCM flash-flood forecasting system </a:t>
            </a:r>
          </a:p>
          <a:p>
            <a:pPr algn="ctr"/>
            <a:endParaRPr lang="en-US" sz="13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it-IT" sz="13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</a:t>
            </a:r>
          </a:p>
          <a:p>
            <a:endParaRPr lang="it-IT" sz="1350" dirty="0"/>
          </a:p>
          <a:p>
            <a:endParaRPr lang="it-IT" sz="1350" dirty="0"/>
          </a:p>
          <a:p>
            <a:endParaRPr lang="it-IT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350" dirty="0"/>
              <a:t>Hydrologic simulations for &gt;100 watersheds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it-IT" sz="1350" dirty="0"/>
              <a:t>Hourly discharge</a:t>
            </a:r>
          </a:p>
          <a:p>
            <a:pPr lvl="1"/>
            <a:endParaRPr lang="it-IT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350" dirty="0"/>
              <a:t>2d hydraulic simulations for over 700.000 km</a:t>
            </a:r>
            <a:r>
              <a:rPr lang="it-IT" sz="1350" baseline="30000" dirty="0"/>
              <a:t>2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it-IT" sz="1350" dirty="0"/>
              <a:t>Flood depth at 30m resolution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it-IT" sz="1350" dirty="0"/>
              <a:t>2.5m resolution over critical areas</a:t>
            </a:r>
          </a:p>
          <a:p>
            <a:endParaRPr lang="it-IT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350" dirty="0"/>
              <a:t>4 times a day</a:t>
            </a:r>
          </a:p>
          <a:p>
            <a:endParaRPr lang="it-IT" sz="135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it-IT" sz="1350" dirty="0"/>
              <a:t>120 hours forecast</a:t>
            </a:r>
          </a:p>
          <a:p>
            <a:endParaRPr lang="it-IT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758F5-A86D-262E-2566-8232335AD75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3617" y="1242792"/>
            <a:ext cx="4433951" cy="37678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13288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10001">
              <a:spcBef>
                <a:spcPts val="75"/>
              </a:spcBef>
            </a:pPr>
            <a:r>
              <a:rPr lang="it-IT" spc="-4" dirty="0"/>
              <a:t>Key features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EFFB560-C8F1-4A5E-F8BF-0D065F996B83}"/>
              </a:ext>
            </a:extLst>
          </p:cNvPr>
          <p:cNvGrpSpPr/>
          <p:nvPr/>
        </p:nvGrpSpPr>
        <p:grpSpPr>
          <a:xfrm>
            <a:off x="951798" y="1378526"/>
            <a:ext cx="7139257" cy="3740791"/>
            <a:chOff x="985123" y="312984"/>
            <a:chExt cx="10221753" cy="573293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72F73-B0FE-ED30-0E44-702D2DD84367}"/>
                </a:ext>
              </a:extLst>
            </p:cNvPr>
            <p:cNvGrpSpPr/>
            <p:nvPr/>
          </p:nvGrpSpPr>
          <p:grpSpPr>
            <a:xfrm>
              <a:off x="985123" y="312984"/>
              <a:ext cx="10221753" cy="5090447"/>
              <a:chOff x="985123" y="312984"/>
              <a:chExt cx="10221753" cy="509044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76ABEB1-6056-CEB2-4540-DE3BE438D470}"/>
                  </a:ext>
                </a:extLst>
              </p:cNvPr>
              <p:cNvGrpSpPr/>
              <p:nvPr/>
            </p:nvGrpSpPr>
            <p:grpSpPr>
              <a:xfrm>
                <a:off x="985123" y="312984"/>
                <a:ext cx="10221753" cy="5090447"/>
                <a:chOff x="985123" y="312984"/>
                <a:chExt cx="10221753" cy="5090447"/>
              </a:xfrm>
            </p:grpSpPr>
            <p:pic>
              <p:nvPicPr>
                <p:cNvPr id="12" name="Picture 11" descr="Diagram&#10;&#10;Description automatically generated">
                  <a:extLst>
                    <a:ext uri="{FF2B5EF4-FFF2-40B4-BE49-F238E27FC236}">
                      <a16:creationId xmlns:a16="http://schemas.microsoft.com/office/drawing/2014/main" id="{B75AC6B9-3A65-187F-D0F6-6B7465F828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-1302" r="1"/>
                <a:stretch/>
              </p:blipFill>
              <p:spPr>
                <a:xfrm>
                  <a:off x="985123" y="312984"/>
                  <a:ext cx="10221753" cy="5090447"/>
                </a:xfrm>
                <a:prstGeom prst="rect">
                  <a:avLst/>
                </a:prstGeom>
              </p:spPr>
            </p:pic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97C8589-AB98-8227-472C-3517A8EDE1C1}"/>
                    </a:ext>
                  </a:extLst>
                </p:cNvPr>
                <p:cNvSpPr/>
                <p:nvPr/>
              </p:nvSpPr>
              <p:spPr>
                <a:xfrm>
                  <a:off x="5514082" y="4244514"/>
                  <a:ext cx="2877564" cy="9599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1350"/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F2FC161-AA02-2A82-C4CE-2735CC0E9931}"/>
                  </a:ext>
                </a:extLst>
              </p:cNvPr>
              <p:cNvSpPr/>
              <p:nvPr/>
            </p:nvSpPr>
            <p:spPr>
              <a:xfrm>
                <a:off x="5405183" y="3992634"/>
                <a:ext cx="340101" cy="9599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35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A0119A3-0978-F405-8C2C-AD84419E28D2}"/>
                  </a:ext>
                </a:extLst>
              </p:cNvPr>
              <p:cNvSpPr/>
              <p:nvPr/>
            </p:nvSpPr>
            <p:spPr>
              <a:xfrm>
                <a:off x="8036109" y="3992634"/>
                <a:ext cx="340101" cy="5869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350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47ACF0C-6BB1-3700-53E9-AC81F314EDC4}"/>
                </a:ext>
              </a:extLst>
            </p:cNvPr>
            <p:cNvSpPr/>
            <p:nvPr/>
          </p:nvSpPr>
          <p:spPr>
            <a:xfrm>
              <a:off x="7445426" y="5085977"/>
              <a:ext cx="2877564" cy="9599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35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9A02B67-ACAC-8C0B-DAC9-AAEA655AD094}"/>
              </a:ext>
            </a:extLst>
          </p:cNvPr>
          <p:cNvSpPr txBox="1"/>
          <p:nvPr/>
        </p:nvSpPr>
        <p:spPr>
          <a:xfrm>
            <a:off x="4692078" y="1312833"/>
            <a:ext cx="1644135" cy="3462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825" b="1" dirty="0">
                <a:latin typeface="Arial" panose="020B0604020202020204" pitchFamily="34" charset="0"/>
                <a:cs typeface="Arial" panose="020B0604020202020204" pitchFamily="34" charset="0"/>
              </a:rPr>
              <a:t>Copernicus DEM (30m)</a:t>
            </a:r>
          </a:p>
          <a:p>
            <a:pPr algn="ctr"/>
            <a:r>
              <a:rPr lang="it-IT" sz="825" b="1" dirty="0">
                <a:latin typeface="Arial" panose="020B0604020202020204" pitchFamily="34" charset="0"/>
                <a:cs typeface="Arial" panose="020B0604020202020204" pitchFamily="34" charset="0"/>
              </a:rPr>
              <a:t>AW3D DEM (2.5m)</a:t>
            </a:r>
          </a:p>
        </p:txBody>
      </p:sp>
      <p:pic>
        <p:nvPicPr>
          <p:cNvPr id="15" name="Picture 2" descr="Geosciences | Free Full-Text | Risk-Based Early Warning System for Pluvial  Flash Floods: Approaches and Foundations">
            <a:extLst>
              <a:ext uri="{FF2B5EF4-FFF2-40B4-BE49-F238E27FC236}">
                <a16:creationId xmlns:a16="http://schemas.microsoft.com/office/drawing/2014/main" id="{25818749-A429-E432-79DE-DB66D2D8E9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91055" y="3361683"/>
            <a:ext cx="900266" cy="160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251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13288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10001">
              <a:spcBef>
                <a:spcPts val="75"/>
              </a:spcBef>
            </a:pPr>
            <a:r>
              <a:rPr lang="it-IT" spc="-4" dirty="0"/>
              <a:t>Key features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A02B67-ACAC-8C0B-DAC9-AAEA655AD094}"/>
              </a:ext>
            </a:extLst>
          </p:cNvPr>
          <p:cNvSpPr txBox="1"/>
          <p:nvPr/>
        </p:nvSpPr>
        <p:spPr>
          <a:xfrm>
            <a:off x="4692078" y="1312833"/>
            <a:ext cx="1644135" cy="3462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825" b="1" dirty="0">
                <a:latin typeface="Arial" panose="020B0604020202020204" pitchFamily="34" charset="0"/>
                <a:cs typeface="Arial" panose="020B0604020202020204" pitchFamily="34" charset="0"/>
              </a:rPr>
              <a:t>Copernicus DEM (30m)</a:t>
            </a:r>
          </a:p>
          <a:p>
            <a:pPr algn="ctr"/>
            <a:r>
              <a:rPr lang="it-IT" sz="825" b="1" dirty="0">
                <a:latin typeface="Arial" panose="020B0604020202020204" pitchFamily="34" charset="0"/>
                <a:cs typeface="Arial" panose="020B0604020202020204" pitchFamily="34" charset="0"/>
              </a:rPr>
              <a:t>AW3D DEM (2.5m)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769E4-56BE-0649-49F4-BBCDDCCA7F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3421"/>
          <a:stretch/>
        </p:blipFill>
        <p:spPr>
          <a:xfrm>
            <a:off x="342900" y="819614"/>
            <a:ext cx="6558290" cy="3489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00873C-D57D-28B7-E45F-3D308377E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906" y="2044016"/>
            <a:ext cx="3523170" cy="26815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0885F8-D8A3-FB9B-D52C-D2A156A007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94" t="12737" r="25760" b="7315"/>
          <a:stretch/>
        </p:blipFill>
        <p:spPr>
          <a:xfrm>
            <a:off x="2792736" y="1418847"/>
            <a:ext cx="5644682" cy="34656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2181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13288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10001">
              <a:spcBef>
                <a:spcPts val="75"/>
              </a:spcBef>
            </a:pPr>
            <a:r>
              <a:rPr lang="it-IT" spc="-4" dirty="0" err="1"/>
              <a:t>Operationally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6C898-FBDB-18C6-A649-D0535AD84251}"/>
              </a:ext>
            </a:extLst>
          </p:cNvPr>
          <p:cNvSpPr txBox="1"/>
          <p:nvPr/>
        </p:nvSpPr>
        <p:spPr>
          <a:xfrm>
            <a:off x="142007" y="1404153"/>
            <a:ext cx="893271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The NCM system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built</a:t>
            </a:r>
            <a:r>
              <a:rPr lang="it-IT" sz="1600" dirty="0"/>
              <a:t> </a:t>
            </a:r>
            <a:r>
              <a:rPr lang="it-IT" sz="1600" dirty="0" err="1"/>
              <a:t>based</a:t>
            </a:r>
            <a:r>
              <a:rPr lang="it-IT" sz="1600" dirty="0"/>
              <a:t> on </a:t>
            </a:r>
            <a:r>
              <a:rPr lang="it-IT" sz="1600" dirty="0" err="1"/>
              <a:t>python</a:t>
            </a:r>
            <a:r>
              <a:rPr lang="it-IT" sz="1600" dirty="0"/>
              <a:t> </a:t>
            </a:r>
            <a:r>
              <a:rPr lang="it-IT" sz="1600" dirty="0" err="1"/>
              <a:t>routines</a:t>
            </a:r>
            <a:r>
              <a:rPr lang="it-IT" sz="1600" dirty="0"/>
              <a:t>, </a:t>
            </a:r>
            <a:r>
              <a:rPr lang="it-IT" sz="1600" dirty="0" err="1"/>
              <a:t>relying</a:t>
            </a:r>
            <a:r>
              <a:rPr lang="it-IT" sz="1600" dirty="0"/>
              <a:t> on common </a:t>
            </a:r>
            <a:r>
              <a:rPr lang="it-IT" sz="1600" dirty="0" err="1"/>
              <a:t>available</a:t>
            </a:r>
            <a:r>
              <a:rPr lang="it-IT" sz="1600" dirty="0"/>
              <a:t> packages.</a:t>
            </a:r>
          </a:p>
          <a:p>
            <a:r>
              <a:rPr lang="it-IT" sz="1600" dirty="0"/>
              <a:t>The </a:t>
            </a:r>
            <a:r>
              <a:rPr lang="it-IT" sz="1600" dirty="0" err="1"/>
              <a:t>routines</a:t>
            </a:r>
            <a:r>
              <a:rPr lang="it-IT" sz="1600" dirty="0"/>
              <a:t> </a:t>
            </a:r>
            <a:r>
              <a:rPr lang="it-IT" sz="1600" dirty="0" err="1"/>
              <a:t>still</a:t>
            </a:r>
            <a:r>
              <a:rPr lang="it-IT" sz="1600" dirty="0"/>
              <a:t> </a:t>
            </a:r>
            <a:r>
              <a:rPr lang="it-IT" sz="1600" dirty="0" err="1"/>
              <a:t>need</a:t>
            </a:r>
            <a:r>
              <a:rPr lang="it-IT" sz="1600" dirty="0"/>
              <a:t> </a:t>
            </a:r>
            <a:r>
              <a:rPr lang="it-IT" sz="1600" dirty="0" err="1"/>
              <a:t>each</a:t>
            </a:r>
            <a:r>
              <a:rPr lang="it-IT" sz="1600" dirty="0"/>
              <a:t> HEC-Ras Project to be </a:t>
            </a:r>
            <a:r>
              <a:rPr lang="it-IT" sz="1600" dirty="0" err="1"/>
              <a:t>created</a:t>
            </a:r>
            <a:r>
              <a:rPr lang="it-IT" sz="1600" dirty="0"/>
              <a:t> and </a:t>
            </a:r>
            <a:r>
              <a:rPr lang="it-IT" sz="1600" dirty="0" err="1"/>
              <a:t>run</a:t>
            </a:r>
            <a:r>
              <a:rPr lang="it-IT" sz="1600" dirty="0"/>
              <a:t> </a:t>
            </a:r>
            <a:r>
              <a:rPr lang="it-IT" sz="1600" dirty="0" err="1"/>
              <a:t>at</a:t>
            </a:r>
            <a:r>
              <a:rPr lang="it-IT" sz="1600" dirty="0"/>
              <a:t> </a:t>
            </a:r>
            <a:r>
              <a:rPr lang="it-IT" sz="1600" dirty="0" err="1"/>
              <a:t>least</a:t>
            </a:r>
            <a:r>
              <a:rPr lang="it-IT" sz="1600" dirty="0"/>
              <a:t> once in windows.</a:t>
            </a:r>
          </a:p>
          <a:p>
            <a:r>
              <a:rPr lang="it-IT" sz="1600" dirty="0"/>
              <a:t>The </a:t>
            </a:r>
            <a:r>
              <a:rPr lang="it-IT" sz="1600" dirty="0" err="1"/>
              <a:t>routines</a:t>
            </a:r>
            <a:r>
              <a:rPr lang="it-IT" sz="1600" dirty="0"/>
              <a:t> </a:t>
            </a:r>
            <a:r>
              <a:rPr lang="it-IT" sz="1600" dirty="0" err="1"/>
              <a:t>perform</a:t>
            </a:r>
            <a:r>
              <a:rPr lang="it-IT" sz="1600" dirty="0"/>
              <a:t> the following tasks</a:t>
            </a:r>
          </a:p>
          <a:p>
            <a:pPr marL="342900" indent="-342900">
              <a:buAutoNum type="arabicPeriod"/>
            </a:pPr>
            <a:r>
              <a:rPr lang="it-IT" sz="1400" i="1" dirty="0" err="1"/>
              <a:t>Gathering</a:t>
            </a:r>
            <a:r>
              <a:rPr lang="it-IT" sz="1400" i="1" dirty="0"/>
              <a:t> of the </a:t>
            </a:r>
            <a:r>
              <a:rPr lang="it-IT" sz="1400" i="1" dirty="0" err="1"/>
              <a:t>Hydrologic</a:t>
            </a:r>
            <a:r>
              <a:rPr lang="it-IT" sz="1400" i="1" dirty="0"/>
              <a:t> model </a:t>
            </a:r>
            <a:r>
              <a:rPr lang="it-IT" sz="1400" i="1" dirty="0" err="1"/>
              <a:t>results</a:t>
            </a:r>
            <a:endParaRPr lang="it-IT" sz="1400" i="1" dirty="0"/>
          </a:p>
          <a:p>
            <a:pPr marL="342900" indent="-342900">
              <a:buAutoNum type="arabicPeriod"/>
            </a:pPr>
            <a:r>
              <a:rPr lang="it-IT" sz="1400" i="1" dirty="0" err="1"/>
              <a:t>Clean</a:t>
            </a:r>
            <a:r>
              <a:rPr lang="it-IT" sz="1400" i="1" dirty="0"/>
              <a:t>-up of the </a:t>
            </a:r>
            <a:r>
              <a:rPr lang="it-IT" sz="1400" i="1" dirty="0" err="1"/>
              <a:t>existing</a:t>
            </a:r>
            <a:r>
              <a:rPr lang="it-IT" sz="1400" i="1" dirty="0"/>
              <a:t> inputs for </a:t>
            </a:r>
            <a:r>
              <a:rPr lang="it-IT" sz="1400" i="1" dirty="0" err="1"/>
              <a:t>HECRas</a:t>
            </a:r>
            <a:endParaRPr lang="it-IT" sz="1400" i="1" dirty="0"/>
          </a:p>
          <a:p>
            <a:pPr marL="342900" indent="-342900">
              <a:buAutoNum type="arabicPeriod"/>
            </a:pPr>
            <a:r>
              <a:rPr lang="it-IT" sz="1400" i="1" dirty="0"/>
              <a:t>Read the </a:t>
            </a:r>
            <a:r>
              <a:rPr lang="it-IT" sz="1400" i="1" dirty="0" err="1"/>
              <a:t>timeserie</a:t>
            </a:r>
            <a:r>
              <a:rPr lang="it-IT" sz="1400" i="1" dirty="0"/>
              <a:t> of flows, and </a:t>
            </a:r>
            <a:r>
              <a:rPr lang="it-IT" sz="1400" i="1" dirty="0" err="1"/>
              <a:t>embed</a:t>
            </a:r>
            <a:r>
              <a:rPr lang="it-IT" sz="1400" i="1" dirty="0"/>
              <a:t> </a:t>
            </a:r>
            <a:r>
              <a:rPr lang="it-IT" sz="1400" i="1" dirty="0" err="1"/>
              <a:t>them</a:t>
            </a:r>
            <a:r>
              <a:rPr lang="it-IT" sz="1400" i="1" dirty="0"/>
              <a:t> </a:t>
            </a:r>
            <a:r>
              <a:rPr lang="it-IT" sz="1400" i="1" dirty="0" err="1"/>
              <a:t>into</a:t>
            </a:r>
            <a:r>
              <a:rPr lang="it-IT" sz="1400" i="1" dirty="0"/>
              <a:t> the </a:t>
            </a:r>
            <a:r>
              <a:rPr lang="it-IT" sz="1400" i="1" dirty="0" err="1"/>
              <a:t>HECRas</a:t>
            </a:r>
            <a:r>
              <a:rPr lang="it-IT" sz="1400" i="1" dirty="0"/>
              <a:t> files</a:t>
            </a:r>
          </a:p>
          <a:p>
            <a:pPr marL="342900" indent="-342900">
              <a:buAutoNum type="arabicPeriod"/>
            </a:pPr>
            <a:r>
              <a:rPr lang="it-IT" sz="1400" i="1" dirty="0" err="1"/>
              <a:t>Polish</a:t>
            </a:r>
            <a:r>
              <a:rPr lang="it-IT" sz="1400" i="1" dirty="0"/>
              <a:t> the files and </a:t>
            </a:r>
            <a:r>
              <a:rPr lang="it-IT" sz="1400" i="1" dirty="0" err="1"/>
              <a:t>convert</a:t>
            </a:r>
            <a:r>
              <a:rPr lang="it-IT" sz="1400" i="1" dirty="0"/>
              <a:t> </a:t>
            </a:r>
            <a:r>
              <a:rPr lang="it-IT" sz="1400" i="1" dirty="0" err="1"/>
              <a:t>them</a:t>
            </a:r>
            <a:r>
              <a:rPr lang="it-IT" sz="1400" i="1" dirty="0"/>
              <a:t> </a:t>
            </a:r>
            <a:r>
              <a:rPr lang="it-IT" sz="1400" i="1" dirty="0" err="1"/>
              <a:t>into</a:t>
            </a:r>
            <a:r>
              <a:rPr lang="it-IT" sz="1400" i="1" dirty="0"/>
              <a:t> RAS *.b01 files</a:t>
            </a:r>
          </a:p>
          <a:p>
            <a:pPr marL="342900" indent="-342900">
              <a:buAutoNum type="arabicPeriod"/>
            </a:pPr>
            <a:r>
              <a:rPr lang="it-IT" sz="1400" i="1" dirty="0" err="1"/>
              <a:t>Launch</a:t>
            </a:r>
            <a:r>
              <a:rPr lang="it-IT" sz="1400" i="1" dirty="0"/>
              <a:t> </a:t>
            </a:r>
            <a:r>
              <a:rPr lang="it-IT" sz="1400" i="1" dirty="0" err="1"/>
              <a:t>HECRas</a:t>
            </a:r>
            <a:r>
              <a:rPr lang="it-IT" sz="1400" i="1" dirty="0"/>
              <a:t> [</a:t>
            </a:r>
            <a:r>
              <a:rPr lang="it-IT" sz="1400" i="1" dirty="0" err="1"/>
              <a:t>linux</a:t>
            </a:r>
            <a:r>
              <a:rPr lang="it-IT" sz="1400" i="1" dirty="0"/>
              <a:t>]</a:t>
            </a:r>
          </a:p>
          <a:p>
            <a:pPr marL="342900" indent="-342900">
              <a:buAutoNum type="arabicPeriod"/>
            </a:pPr>
            <a:r>
              <a:rPr lang="it-IT" sz="1400" i="1" dirty="0" err="1"/>
              <a:t>Gather</a:t>
            </a:r>
            <a:r>
              <a:rPr lang="it-IT" sz="1400" i="1" dirty="0"/>
              <a:t> the </a:t>
            </a:r>
            <a:r>
              <a:rPr lang="it-IT" sz="1400" i="1" dirty="0" err="1"/>
              <a:t>results</a:t>
            </a:r>
            <a:endParaRPr lang="it-IT" sz="1400" i="1" dirty="0"/>
          </a:p>
          <a:p>
            <a:pPr marL="342900" indent="-342900">
              <a:buAutoNum type="arabicPeriod"/>
            </a:pPr>
            <a:r>
              <a:rPr lang="it-IT" sz="1400" i="1" dirty="0"/>
              <a:t>Interpolate </a:t>
            </a:r>
            <a:r>
              <a:rPr lang="it-IT" sz="1400" i="1" dirty="0" err="1"/>
              <a:t>depth</a:t>
            </a:r>
            <a:r>
              <a:rPr lang="it-IT" sz="1400" i="1" dirty="0"/>
              <a:t> and </a:t>
            </a:r>
            <a:r>
              <a:rPr lang="it-IT" sz="1400" i="1" dirty="0" err="1"/>
              <a:t>velocity</a:t>
            </a:r>
            <a:endParaRPr lang="it-IT" sz="1400" i="1" dirty="0"/>
          </a:p>
          <a:p>
            <a:pPr marL="342900" indent="-342900">
              <a:buAutoNum type="arabicPeriod"/>
            </a:pPr>
            <a:r>
              <a:rPr lang="it-IT" sz="1400" i="1" dirty="0"/>
              <a:t>Compute warning </a:t>
            </a:r>
            <a:r>
              <a:rPr lang="it-IT" sz="1400" i="1" dirty="0" err="1"/>
              <a:t>levels</a:t>
            </a:r>
            <a:r>
              <a:rPr lang="it-IT" sz="1400" i="1" dirty="0"/>
              <a:t> </a:t>
            </a:r>
            <a:r>
              <a:rPr lang="it-IT" sz="1400" i="1" dirty="0" err="1"/>
              <a:t>at</a:t>
            </a:r>
            <a:r>
              <a:rPr lang="it-IT" sz="1400" i="1" dirty="0"/>
              <a:t> the </a:t>
            </a:r>
            <a:r>
              <a:rPr lang="it-IT" sz="1400" i="1" dirty="0" err="1"/>
              <a:t>hexagons</a:t>
            </a:r>
            <a:endParaRPr lang="it-IT" sz="1400" i="1" dirty="0"/>
          </a:p>
          <a:p>
            <a:pPr marL="342900" indent="-342900">
              <a:buAutoNum type="arabicPeriod"/>
            </a:pPr>
            <a:r>
              <a:rPr lang="it-IT" sz="1400" i="1" dirty="0"/>
              <a:t>Produce HTML outputs</a:t>
            </a:r>
          </a:p>
          <a:p>
            <a:r>
              <a:rPr lang="it-IT" sz="1600" dirty="0" err="1"/>
              <a:t>These</a:t>
            </a:r>
            <a:r>
              <a:rPr lang="it-IT" sz="1600" dirty="0"/>
              <a:t> steps are </a:t>
            </a:r>
            <a:r>
              <a:rPr lang="it-IT" sz="1600" dirty="0" err="1"/>
              <a:t>performed</a:t>
            </a:r>
            <a:r>
              <a:rPr lang="it-IT" sz="1600" dirty="0"/>
              <a:t> </a:t>
            </a:r>
            <a:r>
              <a:rPr lang="it-IT" sz="1600" dirty="0" err="1"/>
              <a:t>separately</a:t>
            </a:r>
            <a:r>
              <a:rPr lang="it-IT" sz="1600" dirty="0"/>
              <a:t> and in </a:t>
            </a:r>
            <a:r>
              <a:rPr lang="it-IT" sz="1600" dirty="0" err="1"/>
              <a:t>parallel</a:t>
            </a:r>
            <a:r>
              <a:rPr lang="it-IT" sz="1600" dirty="0"/>
              <a:t> for </a:t>
            </a:r>
            <a:r>
              <a:rPr lang="it-IT" sz="1600" dirty="0" err="1"/>
              <a:t>each</a:t>
            </a:r>
            <a:r>
              <a:rPr lang="it-IT" sz="1600" dirty="0"/>
              <a:t> domain. </a:t>
            </a:r>
            <a:r>
              <a:rPr lang="it-IT" sz="1600" dirty="0" err="1"/>
              <a:t>Finally</a:t>
            </a:r>
            <a:r>
              <a:rPr lang="it-IT" sz="1600" dirty="0"/>
              <a:t>, a </a:t>
            </a:r>
            <a:r>
              <a:rPr lang="it-IT" sz="1600" dirty="0" err="1"/>
              <a:t>python</a:t>
            </a:r>
            <a:r>
              <a:rPr lang="it-IT" sz="1600" dirty="0"/>
              <a:t> routine </a:t>
            </a:r>
            <a:r>
              <a:rPr lang="it-IT" sz="1600" dirty="0" err="1"/>
              <a:t>gathers</a:t>
            </a:r>
            <a:r>
              <a:rPr lang="it-IT" sz="1600" dirty="0"/>
              <a:t> the </a:t>
            </a:r>
            <a:r>
              <a:rPr lang="it-IT" sz="1600" dirty="0" err="1"/>
              <a:t>results</a:t>
            </a:r>
            <a:r>
              <a:rPr lang="it-IT" sz="1600" dirty="0"/>
              <a:t> from </a:t>
            </a:r>
            <a:r>
              <a:rPr lang="it-IT" sz="1600" dirty="0" err="1"/>
              <a:t>each</a:t>
            </a:r>
            <a:r>
              <a:rPr lang="it-IT" sz="1600" dirty="0"/>
              <a:t> domain, and </a:t>
            </a:r>
            <a:r>
              <a:rPr lang="it-IT" sz="1600" dirty="0" err="1"/>
              <a:t>merges</a:t>
            </a:r>
            <a:r>
              <a:rPr lang="it-IT" sz="1600" dirty="0"/>
              <a:t> </a:t>
            </a:r>
            <a:r>
              <a:rPr lang="it-IT" sz="1600" dirty="0" err="1"/>
              <a:t>them</a:t>
            </a:r>
            <a:r>
              <a:rPr lang="it-IT" sz="1600" dirty="0"/>
              <a:t> </a:t>
            </a:r>
            <a:r>
              <a:rPr lang="it-IT" sz="1600" dirty="0" err="1"/>
              <a:t>into</a:t>
            </a:r>
            <a:r>
              <a:rPr lang="it-IT" sz="1600" dirty="0"/>
              <a:t> a single html output.</a:t>
            </a:r>
          </a:p>
        </p:txBody>
      </p:sp>
    </p:spTree>
    <p:extLst>
      <p:ext uri="{BB962C8B-B14F-4D97-AF65-F5344CB8AC3E}">
        <p14:creationId xmlns:p14="http://schemas.microsoft.com/office/powerpoint/2010/main" val="5908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13288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10001">
              <a:spcBef>
                <a:spcPts val="75"/>
              </a:spcBef>
            </a:pPr>
            <a:r>
              <a:rPr spc="-4" dirty="0"/>
              <a:t>Que</a:t>
            </a:r>
            <a:r>
              <a:rPr spc="-56" dirty="0"/>
              <a:t>s</a:t>
            </a:r>
            <a:r>
              <a:rPr dirty="0"/>
              <a:t>tions?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20659" y="4818650"/>
            <a:ext cx="134779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4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8329689"/>
      </p:ext>
    </p:extLst>
  </p:cSld>
  <p:clrMapOvr>
    <a:masterClrMapping/>
  </p:clrMapOvr>
</p:sld>
</file>

<file path=ppt/theme/theme1.xml><?xml version="1.0" encoding="utf-8"?>
<a:theme xmlns:a="http://schemas.openxmlformats.org/drawingml/2006/main" name="white-bluebar-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white-bluebar-template.potx</Template>
  <TotalTime>715</TotalTime>
  <Words>208</Words>
  <Application>Microsoft Office PowerPoint</Application>
  <PresentationFormat>On-screen Show (16:9)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white-bluebar-template</vt:lpstr>
      <vt:lpstr>1_Custom Design</vt:lpstr>
      <vt:lpstr>Custom Design</vt:lpstr>
      <vt:lpstr>PowerPoint Presentation</vt:lpstr>
      <vt:lpstr>Key features</vt:lpstr>
      <vt:lpstr>Key features</vt:lpstr>
      <vt:lpstr>Key features</vt:lpstr>
      <vt:lpstr>Operationally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Consorzio Leb</cp:lastModifiedBy>
  <cp:revision>70</cp:revision>
  <dcterms:created xsi:type="dcterms:W3CDTF">2010-04-12T23:12:02Z</dcterms:created>
  <dcterms:modified xsi:type="dcterms:W3CDTF">2023-07-17T06:38:30Z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